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8" r:id="rId27"/>
    <p:sldId id="282" r:id="rId28"/>
    <p:sldId id="283" r:id="rId29"/>
    <p:sldId id="284" r:id="rId30"/>
    <p:sldId id="285" r:id="rId31"/>
    <p:sldId id="286" r:id="rId32"/>
    <p:sldId id="287" r:id="rId33"/>
    <p:sldId id="289" r:id="rId34"/>
    <p:sldId id="290" r:id="rId35"/>
    <p:sldId id="291" r:id="rId36"/>
    <p:sldId id="281" r:id="rId37"/>
    <p:sldId id="292" r:id="rId38"/>
    <p:sldId id="293" r:id="rId39"/>
    <p:sldId id="294" r:id="rId40"/>
    <p:sldId id="295"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3" d="100"/>
          <a:sy n="113" d="100"/>
        </p:scale>
        <p:origin x="45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4F75AF1-7468-4112-B816-CFD089BAE846}" type="datetimeFigureOut">
              <a:rPr lang="en-PH" smtClean="0"/>
              <a:t>14/03/2026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7362DBD6-8F55-4DBD-A87C-A260916BABA8}" type="slidenum">
              <a:rPr lang="en-PH" smtClean="0"/>
              <a:t>‹#›</a:t>
            </a:fld>
            <a:endParaRPr lang="en-PH"/>
          </a:p>
        </p:txBody>
      </p:sp>
    </p:spTree>
    <p:extLst>
      <p:ext uri="{BB962C8B-B14F-4D97-AF65-F5344CB8AC3E}">
        <p14:creationId xmlns:p14="http://schemas.microsoft.com/office/powerpoint/2010/main" val="3104323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C4F75AF1-7468-4112-B816-CFD089BAE846}" type="datetimeFigureOut">
              <a:rPr lang="en-PH" smtClean="0"/>
              <a:t>14/03/2026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7362DBD6-8F55-4DBD-A87C-A260916BABA8}" type="slidenum">
              <a:rPr lang="en-PH" smtClean="0"/>
              <a:t>‹#›</a:t>
            </a:fld>
            <a:endParaRPr lang="en-PH"/>
          </a:p>
        </p:txBody>
      </p:sp>
    </p:spTree>
    <p:extLst>
      <p:ext uri="{BB962C8B-B14F-4D97-AF65-F5344CB8AC3E}">
        <p14:creationId xmlns:p14="http://schemas.microsoft.com/office/powerpoint/2010/main" val="8478614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4F75AF1-7468-4112-B816-CFD089BAE846}" type="datetimeFigureOut">
              <a:rPr lang="en-PH" smtClean="0"/>
              <a:t>14/03/2026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7362DBD6-8F55-4DBD-A87C-A260916BABA8}" type="slidenum">
              <a:rPr lang="en-PH" smtClean="0"/>
              <a:t>‹#›</a:t>
            </a:fld>
            <a:endParaRPr lang="en-PH"/>
          </a:p>
        </p:txBody>
      </p:sp>
    </p:spTree>
    <p:extLst>
      <p:ext uri="{BB962C8B-B14F-4D97-AF65-F5344CB8AC3E}">
        <p14:creationId xmlns:p14="http://schemas.microsoft.com/office/powerpoint/2010/main" val="3487867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4F75AF1-7468-4112-B816-CFD089BAE846}" type="datetimeFigureOut">
              <a:rPr lang="en-PH" smtClean="0"/>
              <a:t>14/03/2026</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7362DBD6-8F55-4DBD-A87C-A260916BABA8}" type="slidenum">
              <a:rPr lang="en-PH" smtClean="0"/>
              <a:t>‹#›</a:t>
            </a:fld>
            <a:endParaRPr lang="en-PH"/>
          </a:p>
        </p:txBody>
      </p:sp>
    </p:spTree>
    <p:extLst>
      <p:ext uri="{BB962C8B-B14F-4D97-AF65-F5344CB8AC3E}">
        <p14:creationId xmlns:p14="http://schemas.microsoft.com/office/powerpoint/2010/main" val="22458362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4F75AF1-7468-4112-B816-CFD089BAE846}" type="datetimeFigureOut">
              <a:rPr lang="en-PH" smtClean="0"/>
              <a:t>14/03/2026</a:t>
            </a:fld>
            <a:endParaRPr lang="en-PH"/>
          </a:p>
        </p:txBody>
      </p:sp>
      <p:sp>
        <p:nvSpPr>
          <p:cNvPr id="8" name="Footer Placeholder 7"/>
          <p:cNvSpPr>
            <a:spLocks noGrp="1"/>
          </p:cNvSpPr>
          <p:nvPr>
            <p:ph type="ftr" sz="quarter" idx="11"/>
          </p:nvPr>
        </p:nvSpPr>
        <p:spPr/>
        <p:txBody>
          <a:bodyPr/>
          <a:lstStyle/>
          <a:p>
            <a:endParaRPr lang="en-PH"/>
          </a:p>
        </p:txBody>
      </p:sp>
      <p:sp>
        <p:nvSpPr>
          <p:cNvPr id="9" name="Slide Number Placeholder 8"/>
          <p:cNvSpPr>
            <a:spLocks noGrp="1"/>
          </p:cNvSpPr>
          <p:nvPr>
            <p:ph type="sldNum" sz="quarter" idx="12"/>
          </p:nvPr>
        </p:nvSpPr>
        <p:spPr/>
        <p:txBody>
          <a:bodyPr/>
          <a:lstStyle/>
          <a:p>
            <a:fld id="{7362DBD6-8F55-4DBD-A87C-A260916BABA8}" type="slidenum">
              <a:rPr lang="en-PH" smtClean="0"/>
              <a:t>‹#›</a:t>
            </a:fld>
            <a:endParaRPr lang="en-PH"/>
          </a:p>
        </p:txBody>
      </p:sp>
    </p:spTree>
    <p:extLst>
      <p:ext uri="{BB962C8B-B14F-4D97-AF65-F5344CB8AC3E}">
        <p14:creationId xmlns:p14="http://schemas.microsoft.com/office/powerpoint/2010/main" val="4180528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C4F75AF1-7468-4112-B816-CFD089BAE846}" type="datetimeFigureOut">
              <a:rPr lang="en-PH" smtClean="0"/>
              <a:t>14/03/2026</a:t>
            </a:fld>
            <a:endParaRPr lang="en-PH"/>
          </a:p>
        </p:txBody>
      </p:sp>
      <p:sp>
        <p:nvSpPr>
          <p:cNvPr id="5" name="Footer Placeholder 3"/>
          <p:cNvSpPr>
            <a:spLocks noGrp="1"/>
          </p:cNvSpPr>
          <p:nvPr>
            <p:ph type="ftr" sz="quarter" idx="11"/>
          </p:nvPr>
        </p:nvSpPr>
        <p:spPr/>
        <p:txBody>
          <a:bodyPr/>
          <a:lstStyle/>
          <a:p>
            <a:endParaRPr lang="en-PH"/>
          </a:p>
        </p:txBody>
      </p:sp>
      <p:sp>
        <p:nvSpPr>
          <p:cNvPr id="6" name="Slide Number Placeholder 4"/>
          <p:cNvSpPr>
            <a:spLocks noGrp="1"/>
          </p:cNvSpPr>
          <p:nvPr>
            <p:ph type="sldNum" sz="quarter" idx="12"/>
          </p:nvPr>
        </p:nvSpPr>
        <p:spPr/>
        <p:txBody>
          <a:bodyPr/>
          <a:lstStyle/>
          <a:p>
            <a:fld id="{7362DBD6-8F55-4DBD-A87C-A260916BABA8}" type="slidenum">
              <a:rPr lang="en-PH" smtClean="0"/>
              <a:t>‹#›</a:t>
            </a:fld>
            <a:endParaRPr lang="en-PH"/>
          </a:p>
        </p:txBody>
      </p:sp>
    </p:spTree>
    <p:extLst>
      <p:ext uri="{BB962C8B-B14F-4D97-AF65-F5344CB8AC3E}">
        <p14:creationId xmlns:p14="http://schemas.microsoft.com/office/powerpoint/2010/main" val="17780124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C4F75AF1-7468-4112-B816-CFD089BAE846}" type="datetimeFigureOut">
              <a:rPr lang="en-PH" smtClean="0"/>
              <a:t>14/03/2026</a:t>
            </a:fld>
            <a:endParaRPr lang="en-PH"/>
          </a:p>
        </p:txBody>
      </p:sp>
      <p:sp>
        <p:nvSpPr>
          <p:cNvPr id="5" name="Footer Placeholder 2"/>
          <p:cNvSpPr>
            <a:spLocks noGrp="1"/>
          </p:cNvSpPr>
          <p:nvPr>
            <p:ph type="ftr" sz="quarter" idx="11"/>
          </p:nvPr>
        </p:nvSpPr>
        <p:spPr/>
        <p:txBody>
          <a:bodyPr/>
          <a:lstStyle/>
          <a:p>
            <a:endParaRPr lang="en-PH"/>
          </a:p>
        </p:txBody>
      </p:sp>
      <p:sp>
        <p:nvSpPr>
          <p:cNvPr id="6" name="Slide Number Placeholder 3"/>
          <p:cNvSpPr>
            <a:spLocks noGrp="1"/>
          </p:cNvSpPr>
          <p:nvPr>
            <p:ph type="sldNum" sz="quarter" idx="12"/>
          </p:nvPr>
        </p:nvSpPr>
        <p:spPr/>
        <p:txBody>
          <a:bodyPr/>
          <a:lstStyle/>
          <a:p>
            <a:fld id="{7362DBD6-8F55-4DBD-A87C-A260916BABA8}" type="slidenum">
              <a:rPr lang="en-PH" smtClean="0"/>
              <a:t>‹#›</a:t>
            </a:fld>
            <a:endParaRPr lang="en-PH"/>
          </a:p>
        </p:txBody>
      </p:sp>
    </p:spTree>
    <p:extLst>
      <p:ext uri="{BB962C8B-B14F-4D97-AF65-F5344CB8AC3E}">
        <p14:creationId xmlns:p14="http://schemas.microsoft.com/office/powerpoint/2010/main" val="26963699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p:cNvSpPr>
            <a:spLocks noGrp="1"/>
          </p:cNvSpPr>
          <p:nvPr>
            <p:ph type="dt" sz="half" idx="10"/>
          </p:nvPr>
        </p:nvSpPr>
        <p:spPr/>
        <p:txBody>
          <a:bodyPr/>
          <a:lstStyle/>
          <a:p>
            <a:fld id="{C4F75AF1-7468-4112-B816-CFD089BAE846}" type="datetimeFigureOut">
              <a:rPr lang="en-PH" smtClean="0"/>
              <a:t>14/03/2026</a:t>
            </a:fld>
            <a:endParaRPr lang="en-PH"/>
          </a:p>
        </p:txBody>
      </p:sp>
      <p:sp>
        <p:nvSpPr>
          <p:cNvPr id="5" name="Footer Placeholder 5"/>
          <p:cNvSpPr>
            <a:spLocks noGrp="1"/>
          </p:cNvSpPr>
          <p:nvPr>
            <p:ph type="ftr" sz="quarter" idx="11"/>
          </p:nvPr>
        </p:nvSpPr>
        <p:spPr/>
        <p:txBody>
          <a:bodyPr/>
          <a:lstStyle/>
          <a:p>
            <a:endParaRPr lang="en-PH"/>
          </a:p>
        </p:txBody>
      </p:sp>
      <p:sp>
        <p:nvSpPr>
          <p:cNvPr id="6" name="Slide Number Placeholder 6"/>
          <p:cNvSpPr>
            <a:spLocks noGrp="1"/>
          </p:cNvSpPr>
          <p:nvPr>
            <p:ph type="sldNum" sz="quarter" idx="12"/>
          </p:nvPr>
        </p:nvSpPr>
        <p:spPr/>
        <p:txBody>
          <a:bodyPr/>
          <a:lstStyle/>
          <a:p>
            <a:fld id="{7362DBD6-8F55-4DBD-A87C-A260916BABA8}" type="slidenum">
              <a:rPr lang="en-PH" smtClean="0"/>
              <a:t>‹#›</a:t>
            </a:fld>
            <a:endParaRPr lang="en-PH"/>
          </a:p>
        </p:txBody>
      </p:sp>
    </p:spTree>
    <p:extLst>
      <p:ext uri="{BB962C8B-B14F-4D97-AF65-F5344CB8AC3E}">
        <p14:creationId xmlns:p14="http://schemas.microsoft.com/office/powerpoint/2010/main" val="31085801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C4F75AF1-7468-4112-B816-CFD089BAE846}" type="datetimeFigureOut">
              <a:rPr lang="en-PH" smtClean="0"/>
              <a:t>14/03/2026</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7362DBD6-8F55-4DBD-A87C-A260916BABA8}" type="slidenum">
              <a:rPr lang="en-PH" smtClean="0"/>
              <a:t>‹#›</a:t>
            </a:fld>
            <a:endParaRPr lang="en-PH"/>
          </a:p>
        </p:txBody>
      </p:sp>
    </p:spTree>
    <p:extLst>
      <p:ext uri="{BB962C8B-B14F-4D97-AF65-F5344CB8AC3E}">
        <p14:creationId xmlns:p14="http://schemas.microsoft.com/office/powerpoint/2010/main" val="4613865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C4F75AF1-7468-4112-B816-CFD089BAE846}" type="datetimeFigureOut">
              <a:rPr lang="en-PH" smtClean="0"/>
              <a:t>14/03/2026</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7362DBD6-8F55-4DBD-A87C-A260916BABA8}" type="slidenum">
              <a:rPr lang="en-PH" smtClean="0"/>
              <a:t>‹#›</a:t>
            </a:fld>
            <a:endParaRPr lang="en-PH"/>
          </a:p>
        </p:txBody>
      </p:sp>
    </p:spTree>
    <p:extLst>
      <p:ext uri="{BB962C8B-B14F-4D97-AF65-F5344CB8AC3E}">
        <p14:creationId xmlns:p14="http://schemas.microsoft.com/office/powerpoint/2010/main" val="2095773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C4F75AF1-7468-4112-B816-CFD089BAE846}" type="datetimeFigureOut">
              <a:rPr lang="en-PH" smtClean="0"/>
              <a:t>14/03/2026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7362DBD6-8F55-4DBD-A87C-A260916BABA8}" type="slidenum">
              <a:rPr lang="en-PH" smtClean="0"/>
              <a:t>‹#›</a:t>
            </a:fld>
            <a:endParaRPr lang="en-PH"/>
          </a:p>
        </p:txBody>
      </p:sp>
    </p:spTree>
    <p:extLst>
      <p:ext uri="{BB962C8B-B14F-4D97-AF65-F5344CB8AC3E}">
        <p14:creationId xmlns:p14="http://schemas.microsoft.com/office/powerpoint/2010/main" val="42147196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C4F75AF1-7468-4112-B816-CFD089BAE846}" type="datetimeFigureOut">
              <a:rPr lang="en-PH" smtClean="0"/>
              <a:t>14/03/2026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7362DBD6-8F55-4DBD-A87C-A260916BABA8}" type="slidenum">
              <a:rPr lang="en-PH" smtClean="0"/>
              <a:t>‹#›</a:t>
            </a:fld>
            <a:endParaRPr lang="en-PH"/>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6578709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4F75AF1-7468-4112-B816-CFD089BAE846}" type="datetimeFigureOut">
              <a:rPr lang="en-PH" smtClean="0"/>
              <a:t>14/03/2026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7362DBD6-8F55-4DBD-A87C-A260916BABA8}" type="slidenum">
              <a:rPr lang="en-PH" smtClean="0"/>
              <a:t>‹#›</a:t>
            </a:fld>
            <a:endParaRPr lang="en-PH"/>
          </a:p>
        </p:txBody>
      </p:sp>
    </p:spTree>
    <p:extLst>
      <p:ext uri="{BB962C8B-B14F-4D97-AF65-F5344CB8AC3E}">
        <p14:creationId xmlns:p14="http://schemas.microsoft.com/office/powerpoint/2010/main" val="497087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4F75AF1-7468-4112-B816-CFD089BAE846}" type="datetimeFigureOut">
              <a:rPr lang="en-PH" smtClean="0"/>
              <a:t>14/03/2026</a:t>
            </a:fld>
            <a:endParaRPr lang="en-PH"/>
          </a:p>
        </p:txBody>
      </p:sp>
      <p:sp>
        <p:nvSpPr>
          <p:cNvPr id="4"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7362DBD6-8F55-4DBD-A87C-A260916BABA8}" type="slidenum">
              <a:rPr lang="en-PH" smtClean="0"/>
              <a:t>‹#›</a:t>
            </a:fld>
            <a:endParaRPr lang="en-PH"/>
          </a:p>
        </p:txBody>
      </p:sp>
    </p:spTree>
    <p:extLst>
      <p:ext uri="{BB962C8B-B14F-4D97-AF65-F5344CB8AC3E}">
        <p14:creationId xmlns:p14="http://schemas.microsoft.com/office/powerpoint/2010/main" val="21681910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4F75AF1-7468-4112-B816-CFD089BAE846}" type="datetimeFigureOut">
              <a:rPr lang="en-PH" smtClean="0"/>
              <a:t>14/03/2026</a:t>
            </a:fld>
            <a:endParaRPr lang="en-PH"/>
          </a:p>
        </p:txBody>
      </p:sp>
      <p:sp>
        <p:nvSpPr>
          <p:cNvPr id="4"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7362DBD6-8F55-4DBD-A87C-A260916BABA8}" type="slidenum">
              <a:rPr lang="en-PH" smtClean="0"/>
              <a:t>‹#›</a:t>
            </a:fld>
            <a:endParaRPr lang="en-PH"/>
          </a:p>
        </p:txBody>
      </p:sp>
    </p:spTree>
    <p:extLst>
      <p:ext uri="{BB962C8B-B14F-4D97-AF65-F5344CB8AC3E}">
        <p14:creationId xmlns:p14="http://schemas.microsoft.com/office/powerpoint/2010/main" val="8582173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F75AF1-7468-4112-B816-CFD089BAE846}" type="datetimeFigureOut">
              <a:rPr lang="en-PH" smtClean="0"/>
              <a:t>14/03/2026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7362DBD6-8F55-4DBD-A87C-A260916BABA8}" type="slidenum">
              <a:rPr lang="en-PH" smtClean="0"/>
              <a:t>‹#›</a:t>
            </a:fld>
            <a:endParaRPr lang="en-PH"/>
          </a:p>
        </p:txBody>
      </p:sp>
    </p:spTree>
    <p:extLst>
      <p:ext uri="{BB962C8B-B14F-4D97-AF65-F5344CB8AC3E}">
        <p14:creationId xmlns:p14="http://schemas.microsoft.com/office/powerpoint/2010/main" val="34092235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F75AF1-7468-4112-B816-CFD089BAE846}" type="datetimeFigureOut">
              <a:rPr lang="en-PH" smtClean="0"/>
              <a:t>14/03/2026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7362DBD6-8F55-4DBD-A87C-A260916BABA8}" type="slidenum">
              <a:rPr lang="en-PH" smtClean="0"/>
              <a:t>‹#›</a:t>
            </a:fld>
            <a:endParaRPr lang="en-PH"/>
          </a:p>
        </p:txBody>
      </p:sp>
    </p:spTree>
    <p:extLst>
      <p:ext uri="{BB962C8B-B14F-4D97-AF65-F5344CB8AC3E}">
        <p14:creationId xmlns:p14="http://schemas.microsoft.com/office/powerpoint/2010/main" val="34221086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C4F75AF1-7468-4112-B816-CFD089BAE846}" type="datetimeFigureOut">
              <a:rPr lang="en-PH" smtClean="0"/>
              <a:t>14/03/2026</a:t>
            </a:fld>
            <a:endParaRPr lang="en-PH"/>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PH"/>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7362DBD6-8F55-4DBD-A87C-A260916BABA8}" type="slidenum">
              <a:rPr lang="en-PH" smtClean="0"/>
              <a:t>‹#›</a:t>
            </a:fld>
            <a:endParaRPr lang="en-PH"/>
          </a:p>
        </p:txBody>
      </p:sp>
    </p:spTree>
    <p:extLst>
      <p:ext uri="{BB962C8B-B14F-4D97-AF65-F5344CB8AC3E}">
        <p14:creationId xmlns:p14="http://schemas.microsoft.com/office/powerpoint/2010/main" val="413577263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geeksforgeeks.org/machine-learning/object-detection-vs-object-recognition-vs-image-segmentation/" TargetMode="External"/><Relationship Id="rId2" Type="http://schemas.openxmlformats.org/officeDocument/2006/relationships/hyperlink" Target="https://www.geeksforgeeks.org/digital-logic/image-edge-detection-operators-in-digital-image-processing/" TargetMode="External"/><Relationship Id="rId1" Type="http://schemas.openxmlformats.org/officeDocument/2006/relationships/slideLayout" Target="../slideLayouts/slideLayout2.xml"/><Relationship Id="rId4" Type="http://schemas.openxmlformats.org/officeDocument/2006/relationships/hyperlink" Target="https://www.geeksforgeeks.org/machine-learning/what-is-feature-extraction/#:~:text=Understanding%20Feature%20Extraction,-Feature%20extraction%20is&amp;text=In%20other%20words%2C%20feature%20extraction,can%20easily%20understand%20and%20us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www.geeksforgeeks.org/nlp/nlp-how-tokenizing-text-sentence-words-works/"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www.geeksforgeeks.org/python/generating-word-cloud-python/"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www.geeksforgeeks.org/machine-learning/what-are-convolution-layers/"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www.geeksforgeeks.org/machine-learning/what-are-convolution-layers/"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www.geeksforgeeks.org/deep-learning/the-role-of-softmax-in-neural-networks-detailed-explanation-and-applications/" TargetMode="External"/><Relationship Id="rId2" Type="http://schemas.openxmlformats.org/officeDocument/2006/relationships/hyperlink" Target="https://www.geeksforgeeks.org/machine-learning/derivative-of-the-sigmoid-function/"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hyperlink" Target="https://www.geeksforgeeks.org/computer-vision/computer-vision/"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https://www.geeksforgeeks.org/python/opencv-python-tutoria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5285C-298E-4CF8-B34D-A950A873519B}"/>
              </a:ext>
            </a:extLst>
          </p:cNvPr>
          <p:cNvSpPr>
            <a:spLocks noGrp="1"/>
          </p:cNvSpPr>
          <p:nvPr>
            <p:ph type="ctrTitle"/>
          </p:nvPr>
        </p:nvSpPr>
        <p:spPr/>
        <p:txBody>
          <a:bodyPr/>
          <a:lstStyle/>
          <a:p>
            <a:r>
              <a:rPr lang="en-PH" dirty="0"/>
              <a:t>EDGE DECTION , FEATURE EXTRACTION AND SEGMENTATION</a:t>
            </a:r>
          </a:p>
        </p:txBody>
      </p:sp>
      <p:sp>
        <p:nvSpPr>
          <p:cNvPr id="3" name="Subtitle 2">
            <a:extLst>
              <a:ext uri="{FF2B5EF4-FFF2-40B4-BE49-F238E27FC236}">
                <a16:creationId xmlns:a16="http://schemas.microsoft.com/office/drawing/2014/main" id="{45F8154F-EFDF-4FFE-92A4-3DE27825BDEC}"/>
              </a:ext>
            </a:extLst>
          </p:cNvPr>
          <p:cNvSpPr>
            <a:spLocks noGrp="1"/>
          </p:cNvSpPr>
          <p:nvPr>
            <p:ph type="subTitle" idx="1"/>
          </p:nvPr>
        </p:nvSpPr>
        <p:spPr/>
        <p:txBody>
          <a:bodyPr/>
          <a:lstStyle/>
          <a:p>
            <a:endParaRPr lang="en-PH"/>
          </a:p>
        </p:txBody>
      </p:sp>
    </p:spTree>
    <p:extLst>
      <p:ext uri="{BB962C8B-B14F-4D97-AF65-F5344CB8AC3E}">
        <p14:creationId xmlns:p14="http://schemas.microsoft.com/office/powerpoint/2010/main" val="26683559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5BD2D-6057-4DB8-BA90-FEAD86E31FBA}"/>
              </a:ext>
            </a:extLst>
          </p:cNvPr>
          <p:cNvSpPr>
            <a:spLocks noGrp="1"/>
          </p:cNvSpPr>
          <p:nvPr>
            <p:ph type="title"/>
          </p:nvPr>
        </p:nvSpPr>
        <p:spPr/>
        <p:txBody>
          <a:bodyPr/>
          <a:lstStyle/>
          <a:p>
            <a:r>
              <a:rPr lang="en-PH" dirty="0"/>
              <a:t>EDGE DETECTION</a:t>
            </a:r>
          </a:p>
        </p:txBody>
      </p:sp>
      <p:sp>
        <p:nvSpPr>
          <p:cNvPr id="3" name="Content Placeholder 2">
            <a:extLst>
              <a:ext uri="{FF2B5EF4-FFF2-40B4-BE49-F238E27FC236}">
                <a16:creationId xmlns:a16="http://schemas.microsoft.com/office/drawing/2014/main" id="{A88BD22A-166E-4456-9A4B-D3BF2D9E259F}"/>
              </a:ext>
            </a:extLst>
          </p:cNvPr>
          <p:cNvSpPr>
            <a:spLocks noGrp="1"/>
          </p:cNvSpPr>
          <p:nvPr>
            <p:ph idx="1"/>
          </p:nvPr>
        </p:nvSpPr>
        <p:spPr/>
        <p:txBody>
          <a:bodyPr/>
          <a:lstStyle/>
          <a:p>
            <a:r>
              <a:rPr lang="en-US" u="sng" dirty="0">
                <a:hlinkClick r:id="rId2"/>
              </a:rPr>
              <a:t>Edge detection</a:t>
            </a:r>
            <a:r>
              <a:rPr lang="en-US" dirty="0"/>
              <a:t> is a fundamental technique in image processing used to identify boundaries within an image. It's crucial for tasks like </a:t>
            </a:r>
            <a:r>
              <a:rPr lang="en-US" u="sng" dirty="0">
                <a:hlinkClick r:id="rId3"/>
              </a:rPr>
              <a:t>object detection</a:t>
            </a:r>
            <a:r>
              <a:rPr lang="en-US" dirty="0"/>
              <a:t>, image segmentation, and </a:t>
            </a:r>
            <a:r>
              <a:rPr lang="en-US" u="sng" dirty="0">
                <a:hlinkClick r:id="rId4"/>
              </a:rPr>
              <a:t>feature extraction</a:t>
            </a:r>
            <a:r>
              <a:rPr lang="en-US" dirty="0"/>
              <a:t>. Essentially, edge detection algorithms aim to locate points where the intensity of an image changes abruptly, which typically signifies the presence of an edge or boundary between different objects or regions.</a:t>
            </a:r>
          </a:p>
          <a:p>
            <a:r>
              <a:rPr lang="en-PH" dirty="0"/>
              <a:t>When the Sobel kernel is applied to a region of the image, it performs a convolution operation that emphasizes regions with high spatial frequency, which correspond to edges. For example, applying the </a:t>
            </a:r>
            <a:r>
              <a:rPr lang="en-PH" dirty="0" err="1"/>
              <a:t>Gx</a:t>
            </a:r>
            <a:r>
              <a:rPr lang="en-PH" dirty="0"/>
              <a:t> kernel will highlight vertical edges, while </a:t>
            </a:r>
            <a:r>
              <a:rPr lang="en-PH" dirty="0" err="1"/>
              <a:t>Gy</a:t>
            </a:r>
            <a:r>
              <a:rPr lang="en-PH" dirty="0"/>
              <a:t> will highlight horizontal edges.</a:t>
            </a:r>
          </a:p>
          <a:p>
            <a:endParaRPr lang="en-PH" dirty="0"/>
          </a:p>
          <a:p>
            <a:endParaRPr lang="en-PH" dirty="0"/>
          </a:p>
        </p:txBody>
      </p:sp>
    </p:spTree>
    <p:extLst>
      <p:ext uri="{BB962C8B-B14F-4D97-AF65-F5344CB8AC3E}">
        <p14:creationId xmlns:p14="http://schemas.microsoft.com/office/powerpoint/2010/main" val="20291918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CD919-9BA2-4258-BCAD-E234F931534E}"/>
              </a:ext>
            </a:extLst>
          </p:cNvPr>
          <p:cNvSpPr>
            <a:spLocks noGrp="1"/>
          </p:cNvSpPr>
          <p:nvPr>
            <p:ph type="title"/>
          </p:nvPr>
        </p:nvSpPr>
        <p:spPr/>
        <p:txBody>
          <a:bodyPr/>
          <a:lstStyle/>
          <a:p>
            <a:r>
              <a:rPr lang="en-PH" b="1" dirty="0"/>
              <a:t>Sobel Operator</a:t>
            </a:r>
            <a:br>
              <a:rPr lang="en-PH" b="1" dirty="0"/>
            </a:br>
            <a:endParaRPr lang="en-PH" dirty="0"/>
          </a:p>
        </p:txBody>
      </p:sp>
      <p:sp>
        <p:nvSpPr>
          <p:cNvPr id="3" name="Content Placeholder 2">
            <a:extLst>
              <a:ext uri="{FF2B5EF4-FFF2-40B4-BE49-F238E27FC236}">
                <a16:creationId xmlns:a16="http://schemas.microsoft.com/office/drawing/2014/main" id="{C4B0D75F-D4FD-4427-BFAC-0FE93869FEBC}"/>
              </a:ext>
            </a:extLst>
          </p:cNvPr>
          <p:cNvSpPr>
            <a:spLocks noGrp="1"/>
          </p:cNvSpPr>
          <p:nvPr>
            <p:ph idx="1"/>
          </p:nvPr>
        </p:nvSpPr>
        <p:spPr/>
        <p:txBody>
          <a:bodyPr/>
          <a:lstStyle/>
          <a:p>
            <a:r>
              <a:rPr lang="en-PH" dirty="0"/>
              <a:t>The Sobel operator is a discrete differentiation operator that computes an approximation of the gradient of the image intensity function. It emphasizes edge detection in both horizontal and vertical directions by combining Gaussian smoothing and differentiation, making it less sensitive to noise.</a:t>
            </a:r>
          </a:p>
          <a:p>
            <a:endParaRPr lang="en-PH" dirty="0"/>
          </a:p>
        </p:txBody>
      </p:sp>
    </p:spTree>
    <p:extLst>
      <p:ext uri="{BB962C8B-B14F-4D97-AF65-F5344CB8AC3E}">
        <p14:creationId xmlns:p14="http://schemas.microsoft.com/office/powerpoint/2010/main" val="1255998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9D76499-5177-4FD9-A84D-40E36BED8C2F}"/>
              </a:ext>
            </a:extLst>
          </p:cNvPr>
          <p:cNvPicPr/>
          <p:nvPr/>
        </p:nvPicPr>
        <p:blipFill>
          <a:blip r:embed="rId2"/>
          <a:stretch>
            <a:fillRect/>
          </a:stretch>
        </p:blipFill>
        <p:spPr>
          <a:xfrm>
            <a:off x="1" y="0"/>
            <a:ext cx="12192000" cy="6798733"/>
          </a:xfrm>
          <a:prstGeom prst="rect">
            <a:avLst/>
          </a:prstGeom>
        </p:spPr>
      </p:pic>
    </p:spTree>
    <p:extLst>
      <p:ext uri="{BB962C8B-B14F-4D97-AF65-F5344CB8AC3E}">
        <p14:creationId xmlns:p14="http://schemas.microsoft.com/office/powerpoint/2010/main" val="25044211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4706B-0CB3-41BF-B233-77F57D461EA2}"/>
              </a:ext>
            </a:extLst>
          </p:cNvPr>
          <p:cNvSpPr>
            <a:spLocks noGrp="1"/>
          </p:cNvSpPr>
          <p:nvPr>
            <p:ph type="title"/>
          </p:nvPr>
        </p:nvSpPr>
        <p:spPr/>
        <p:txBody>
          <a:bodyPr/>
          <a:lstStyle/>
          <a:p>
            <a:r>
              <a:rPr lang="en-PH" b="1" dirty="0"/>
              <a:t>Laplacian Operator</a:t>
            </a:r>
            <a:br>
              <a:rPr lang="en-PH" b="1" dirty="0"/>
            </a:br>
            <a:endParaRPr lang="en-PH" dirty="0"/>
          </a:p>
        </p:txBody>
      </p:sp>
      <p:sp>
        <p:nvSpPr>
          <p:cNvPr id="3" name="Content Placeholder 2">
            <a:extLst>
              <a:ext uri="{FF2B5EF4-FFF2-40B4-BE49-F238E27FC236}">
                <a16:creationId xmlns:a16="http://schemas.microsoft.com/office/drawing/2014/main" id="{EFE0C7B7-9276-43E5-8F7F-53B03654D0C4}"/>
              </a:ext>
            </a:extLst>
          </p:cNvPr>
          <p:cNvSpPr>
            <a:spLocks noGrp="1"/>
          </p:cNvSpPr>
          <p:nvPr>
            <p:ph idx="1"/>
          </p:nvPr>
        </p:nvSpPr>
        <p:spPr/>
        <p:txBody>
          <a:bodyPr/>
          <a:lstStyle/>
          <a:p>
            <a:r>
              <a:rPr lang="en-PH" dirty="0"/>
              <a:t>The Laplacian operator is a second-order derivative operator that highlights regions of rapid intensity change, effective in edge detection. Unlike Sobel, which is directional, the Laplacian is non-directional and detects edges in all directions.</a:t>
            </a:r>
          </a:p>
          <a:p>
            <a:r>
              <a:rPr lang="en-PH" dirty="0"/>
              <a:t>The Laplacian operator, often denoted as Δ or ∇², is a differential operator used in mathematics and physics to calculate the second spatial derivative of a scalar function. It essentially measures the rate of change of the rate of change of a function across its spatial domain. In simpler terms, it indicates how much the function’s value deviates from the average value of its surrounding points.</a:t>
            </a:r>
          </a:p>
          <a:p>
            <a:endParaRPr lang="en-PH" dirty="0"/>
          </a:p>
        </p:txBody>
      </p:sp>
    </p:spTree>
    <p:extLst>
      <p:ext uri="{BB962C8B-B14F-4D97-AF65-F5344CB8AC3E}">
        <p14:creationId xmlns:p14="http://schemas.microsoft.com/office/powerpoint/2010/main" val="36747354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B25574-0FEA-4539-9095-BF5561ED2447}"/>
              </a:ext>
            </a:extLst>
          </p:cNvPr>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6377783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8968B-50DB-4DC8-8C31-E8BB3B1C8EC6}"/>
              </a:ext>
            </a:extLst>
          </p:cNvPr>
          <p:cNvSpPr>
            <a:spLocks noGrp="1"/>
          </p:cNvSpPr>
          <p:nvPr>
            <p:ph type="title"/>
          </p:nvPr>
        </p:nvSpPr>
        <p:spPr/>
        <p:txBody>
          <a:bodyPr/>
          <a:lstStyle/>
          <a:p>
            <a:r>
              <a:rPr lang="en-PH" b="1" dirty="0"/>
              <a:t>Canny Edge Detector</a:t>
            </a:r>
            <a:br>
              <a:rPr lang="en-PH" dirty="0"/>
            </a:br>
            <a:endParaRPr lang="en-PH" dirty="0"/>
          </a:p>
        </p:txBody>
      </p:sp>
      <p:sp>
        <p:nvSpPr>
          <p:cNvPr id="3" name="Content Placeholder 2">
            <a:extLst>
              <a:ext uri="{FF2B5EF4-FFF2-40B4-BE49-F238E27FC236}">
                <a16:creationId xmlns:a16="http://schemas.microsoft.com/office/drawing/2014/main" id="{46DCD11D-07AE-4A20-8BBF-F79A72E7F3C5}"/>
              </a:ext>
            </a:extLst>
          </p:cNvPr>
          <p:cNvSpPr>
            <a:spLocks noGrp="1"/>
          </p:cNvSpPr>
          <p:nvPr>
            <p:ph idx="1"/>
          </p:nvPr>
        </p:nvSpPr>
        <p:spPr/>
        <p:txBody>
          <a:bodyPr>
            <a:normAutofit fontScale="92500" lnSpcReduction="20000"/>
          </a:bodyPr>
          <a:lstStyle/>
          <a:p>
            <a:r>
              <a:rPr lang="en-PH" dirty="0"/>
              <a:t>The </a:t>
            </a:r>
            <a:r>
              <a:rPr lang="en-PH" b="1" dirty="0"/>
              <a:t>Canny edge detector</a:t>
            </a:r>
            <a:r>
              <a:rPr lang="en-PH" dirty="0"/>
              <a:t> was developed by John Canny in 1986 and is still one of the most reliable edge detection algorithms. It combines gradient-based edge detection with advanced logic to ensure that the detected edges are thin, connected, and free from noise. Canny Edge Detection is one of the most popular edge-detection methods in use today because it is so robust and flexible. The algorithm itself follows a three-stage process for extracting edges from an image. Add to it image blurring, a necessary preprocessing step to reduce noise. This makes it a four-stage process, which includes:</a:t>
            </a:r>
          </a:p>
          <a:p>
            <a:endParaRPr lang="en-PH" dirty="0"/>
          </a:p>
          <a:p>
            <a:pPr lvl="0"/>
            <a:r>
              <a:rPr lang="en-PH" dirty="0"/>
              <a:t>Noise Reduction</a:t>
            </a:r>
          </a:p>
          <a:p>
            <a:pPr lvl="0"/>
            <a:r>
              <a:rPr lang="en-PH" dirty="0"/>
              <a:t>Calculating the Intensity Gradient of the Image</a:t>
            </a:r>
          </a:p>
          <a:p>
            <a:pPr lvl="0"/>
            <a:r>
              <a:rPr lang="en-PH" dirty="0"/>
              <a:t>Suppression of False Edges</a:t>
            </a:r>
          </a:p>
          <a:p>
            <a:pPr lvl="0"/>
            <a:r>
              <a:rPr lang="en-PH" dirty="0"/>
              <a:t>Hysteresis Thresholding</a:t>
            </a:r>
          </a:p>
          <a:p>
            <a:endParaRPr lang="en-PH" dirty="0"/>
          </a:p>
          <a:p>
            <a:endParaRPr lang="en-PH" dirty="0"/>
          </a:p>
        </p:txBody>
      </p:sp>
    </p:spTree>
    <p:extLst>
      <p:ext uri="{BB962C8B-B14F-4D97-AF65-F5344CB8AC3E}">
        <p14:creationId xmlns:p14="http://schemas.microsoft.com/office/powerpoint/2010/main" val="13980294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645D5-8828-4593-A3DA-54588F0E849F}"/>
              </a:ext>
            </a:extLst>
          </p:cNvPr>
          <p:cNvSpPr>
            <a:spLocks noGrp="1"/>
          </p:cNvSpPr>
          <p:nvPr>
            <p:ph type="title"/>
          </p:nvPr>
        </p:nvSpPr>
        <p:spPr/>
        <p:txBody>
          <a:bodyPr/>
          <a:lstStyle/>
          <a:p>
            <a:r>
              <a:rPr lang="en-PH" b="1" dirty="0"/>
              <a:t>Noise Reduction</a:t>
            </a:r>
            <a:br>
              <a:rPr lang="en-PH" b="1" dirty="0"/>
            </a:br>
            <a:endParaRPr lang="en-PH" dirty="0"/>
          </a:p>
        </p:txBody>
      </p:sp>
      <p:sp>
        <p:nvSpPr>
          <p:cNvPr id="3" name="Content Placeholder 2">
            <a:extLst>
              <a:ext uri="{FF2B5EF4-FFF2-40B4-BE49-F238E27FC236}">
                <a16:creationId xmlns:a16="http://schemas.microsoft.com/office/drawing/2014/main" id="{DBCB0FBF-7CD3-4FB5-A351-4EC82B2A1A39}"/>
              </a:ext>
            </a:extLst>
          </p:cNvPr>
          <p:cNvSpPr>
            <a:spLocks noGrp="1"/>
          </p:cNvSpPr>
          <p:nvPr>
            <p:ph idx="1"/>
          </p:nvPr>
        </p:nvSpPr>
        <p:spPr/>
        <p:txBody>
          <a:bodyPr/>
          <a:lstStyle/>
          <a:p>
            <a:r>
              <a:rPr lang="en-PH" dirty="0"/>
              <a:t>Raw image pixels can often lead to noisy edges, so it is essential to reduce noise before computing edges In Canny Edge Detection, a Gaussian blur filter is used to essentially remove or minimize unnecessary detail that could lead to undesirable edges. Have a look at the image below; Gaussian blur has been applied to the image. As you can see, it appears slightly blurred but still retains a significant amount of detail from which edges can be computed.</a:t>
            </a:r>
          </a:p>
          <a:p>
            <a:endParaRPr lang="en-PH" dirty="0"/>
          </a:p>
        </p:txBody>
      </p:sp>
      <p:pic>
        <p:nvPicPr>
          <p:cNvPr id="4" name="Picture 3">
            <a:extLst>
              <a:ext uri="{FF2B5EF4-FFF2-40B4-BE49-F238E27FC236}">
                <a16:creationId xmlns:a16="http://schemas.microsoft.com/office/drawing/2014/main" id="{C204533C-691F-44EE-8A57-D59DCB05E084}"/>
              </a:ext>
            </a:extLst>
          </p:cNvPr>
          <p:cNvPicPr/>
          <p:nvPr/>
        </p:nvPicPr>
        <p:blipFill>
          <a:blip r:embed="rId2"/>
          <a:stretch>
            <a:fillRect/>
          </a:stretch>
        </p:blipFill>
        <p:spPr>
          <a:xfrm>
            <a:off x="2863320" y="4445529"/>
            <a:ext cx="4467225" cy="1133475"/>
          </a:xfrm>
          <a:prstGeom prst="rect">
            <a:avLst/>
          </a:prstGeom>
        </p:spPr>
      </p:pic>
    </p:spTree>
    <p:extLst>
      <p:ext uri="{BB962C8B-B14F-4D97-AF65-F5344CB8AC3E}">
        <p14:creationId xmlns:p14="http://schemas.microsoft.com/office/powerpoint/2010/main" val="11772044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38E18-FA84-44A1-80D7-F1A91E8B3756}"/>
              </a:ext>
            </a:extLst>
          </p:cNvPr>
          <p:cNvSpPr>
            <a:spLocks noGrp="1"/>
          </p:cNvSpPr>
          <p:nvPr>
            <p:ph type="title"/>
          </p:nvPr>
        </p:nvSpPr>
        <p:spPr/>
        <p:txBody>
          <a:bodyPr/>
          <a:lstStyle/>
          <a:p>
            <a:r>
              <a:rPr lang="en-PH" b="1" dirty="0"/>
              <a:t>Calculating the Intensity Gradient of the Image</a:t>
            </a:r>
            <a:br>
              <a:rPr lang="en-PH" b="1" dirty="0"/>
            </a:br>
            <a:endParaRPr lang="en-PH" dirty="0"/>
          </a:p>
        </p:txBody>
      </p:sp>
      <p:sp>
        <p:nvSpPr>
          <p:cNvPr id="3" name="Content Placeholder 2">
            <a:extLst>
              <a:ext uri="{FF2B5EF4-FFF2-40B4-BE49-F238E27FC236}">
                <a16:creationId xmlns:a16="http://schemas.microsoft.com/office/drawing/2014/main" id="{0E67F896-016C-4487-B141-754E8F0C8841}"/>
              </a:ext>
            </a:extLst>
          </p:cNvPr>
          <p:cNvSpPr>
            <a:spLocks noGrp="1"/>
          </p:cNvSpPr>
          <p:nvPr>
            <p:ph idx="1"/>
          </p:nvPr>
        </p:nvSpPr>
        <p:spPr/>
        <p:txBody>
          <a:bodyPr/>
          <a:lstStyle/>
          <a:p>
            <a:r>
              <a:rPr lang="en-PH" dirty="0"/>
              <a:t>Once the image has been smoothed (blurred), it is filtered with a Sobel kernel, both horizontally and vertically. The results from these filtering operations are then used to calculate both the intensity gradient magnitude, and the direction for each pixel. The gradient direction is then rounded to the nearest 45-degree angle.</a:t>
            </a:r>
          </a:p>
          <a:p>
            <a:endParaRPr lang="en-PH" dirty="0"/>
          </a:p>
        </p:txBody>
      </p:sp>
      <p:pic>
        <p:nvPicPr>
          <p:cNvPr id="4" name="Picture 3">
            <a:extLst>
              <a:ext uri="{FF2B5EF4-FFF2-40B4-BE49-F238E27FC236}">
                <a16:creationId xmlns:a16="http://schemas.microsoft.com/office/drawing/2014/main" id="{F15B1786-E8B6-4807-8EAF-3A83D3FBA6C7}"/>
              </a:ext>
            </a:extLst>
          </p:cNvPr>
          <p:cNvPicPr/>
          <p:nvPr/>
        </p:nvPicPr>
        <p:blipFill>
          <a:blip r:embed="rId2"/>
          <a:stretch>
            <a:fillRect/>
          </a:stretch>
        </p:blipFill>
        <p:spPr>
          <a:xfrm>
            <a:off x="2540000" y="4030557"/>
            <a:ext cx="5943600" cy="896620"/>
          </a:xfrm>
          <a:prstGeom prst="rect">
            <a:avLst/>
          </a:prstGeom>
        </p:spPr>
      </p:pic>
    </p:spTree>
    <p:extLst>
      <p:ext uri="{BB962C8B-B14F-4D97-AF65-F5344CB8AC3E}">
        <p14:creationId xmlns:p14="http://schemas.microsoft.com/office/powerpoint/2010/main" val="5623946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AD2E3-C2DC-4004-BFC5-8E61F76FE7E3}"/>
              </a:ext>
            </a:extLst>
          </p:cNvPr>
          <p:cNvSpPr>
            <a:spLocks noGrp="1"/>
          </p:cNvSpPr>
          <p:nvPr>
            <p:ph type="title"/>
          </p:nvPr>
        </p:nvSpPr>
        <p:spPr/>
        <p:txBody>
          <a:bodyPr/>
          <a:lstStyle/>
          <a:p>
            <a:r>
              <a:rPr lang="en-PH" b="1" dirty="0"/>
              <a:t>Suppression of False Edges</a:t>
            </a:r>
            <a:br>
              <a:rPr lang="en-PH" b="1" dirty="0"/>
            </a:br>
            <a:endParaRPr lang="en-PH" dirty="0"/>
          </a:p>
        </p:txBody>
      </p:sp>
      <p:sp>
        <p:nvSpPr>
          <p:cNvPr id="3" name="Content Placeholder 2">
            <a:extLst>
              <a:ext uri="{FF2B5EF4-FFF2-40B4-BE49-F238E27FC236}">
                <a16:creationId xmlns:a16="http://schemas.microsoft.com/office/drawing/2014/main" id="{4983A48B-C032-4968-B139-0B0291CA0E4B}"/>
              </a:ext>
            </a:extLst>
          </p:cNvPr>
          <p:cNvSpPr>
            <a:spLocks noGrp="1"/>
          </p:cNvSpPr>
          <p:nvPr>
            <p:ph idx="1"/>
          </p:nvPr>
        </p:nvSpPr>
        <p:spPr/>
        <p:txBody>
          <a:bodyPr/>
          <a:lstStyle/>
          <a:p>
            <a:r>
              <a:rPr lang="en-PH" dirty="0"/>
              <a:t>After reducing noise and calculating the intensity gradient, the algorithm in this step uses a technique called non-maximum suppression of edges to filter out unwanted pixels (which may not actually constitute an edge). To accomplish this, each pixel is compared to its neighboring pixels in the positive and negative gradient direction. If the gradient magnitude of the current pixel is greater than its neighboring pixels, it is left unchanged. Otherwise, the magnitude of the current pixel is set to zero. The following image illustrates an example.  As you can see, numerous ‘edges’ associated with the image have been significantly subdued.</a:t>
            </a:r>
          </a:p>
          <a:p>
            <a:endParaRPr lang="en-PH" dirty="0"/>
          </a:p>
        </p:txBody>
      </p:sp>
    </p:spTree>
    <p:extLst>
      <p:ext uri="{BB962C8B-B14F-4D97-AF65-F5344CB8AC3E}">
        <p14:creationId xmlns:p14="http://schemas.microsoft.com/office/powerpoint/2010/main" val="3747045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CC010-B898-4A0E-A94E-FE754CF094C6}"/>
              </a:ext>
            </a:extLst>
          </p:cNvPr>
          <p:cNvSpPr>
            <a:spLocks noGrp="1"/>
          </p:cNvSpPr>
          <p:nvPr>
            <p:ph type="title"/>
          </p:nvPr>
        </p:nvSpPr>
        <p:spPr/>
        <p:txBody>
          <a:bodyPr/>
          <a:lstStyle/>
          <a:p>
            <a:r>
              <a:rPr lang="en-PH" b="1" dirty="0"/>
              <a:t>Hysteresis Thresholding</a:t>
            </a:r>
            <a:br>
              <a:rPr lang="en-PH" b="1" dirty="0"/>
            </a:br>
            <a:endParaRPr lang="en-PH" dirty="0"/>
          </a:p>
        </p:txBody>
      </p:sp>
      <p:sp>
        <p:nvSpPr>
          <p:cNvPr id="3" name="Content Placeholder 2">
            <a:extLst>
              <a:ext uri="{FF2B5EF4-FFF2-40B4-BE49-F238E27FC236}">
                <a16:creationId xmlns:a16="http://schemas.microsoft.com/office/drawing/2014/main" id="{CF15B935-8414-42F4-AA4B-E9FB834028A2}"/>
              </a:ext>
            </a:extLst>
          </p:cNvPr>
          <p:cNvSpPr>
            <a:spLocks noGrp="1"/>
          </p:cNvSpPr>
          <p:nvPr>
            <p:ph idx="1"/>
          </p:nvPr>
        </p:nvSpPr>
        <p:spPr/>
        <p:txBody>
          <a:bodyPr/>
          <a:lstStyle/>
          <a:p>
            <a:r>
              <a:rPr lang="en-US" dirty="0"/>
              <a:t>If the gradient magnitude value is higher than the larger threshold value, those pixels are associated with solid edges and are included in the final edge map.</a:t>
            </a:r>
          </a:p>
          <a:p>
            <a:r>
              <a:rPr lang="en-US" dirty="0"/>
              <a:t>If the gradient magnitude values are lower than the smaller threshold value, the pixels are suppressed and excluded from the final edge map.</a:t>
            </a:r>
          </a:p>
          <a:p>
            <a:r>
              <a:rPr lang="en-US" dirty="0"/>
              <a:t>All the other pixels, whose gradient magnitudes fall between these two thresholds, are marked as ‘weak’ edges (i.e. they become candidates for being included in the final edge map). </a:t>
            </a:r>
          </a:p>
          <a:p>
            <a:r>
              <a:rPr lang="en-US" dirty="0"/>
              <a:t>If the ‘weak’ pixels are connected to those associated with solid edges, they are also included in the final edge map. </a:t>
            </a:r>
          </a:p>
          <a:p>
            <a:endParaRPr lang="en-PH" dirty="0"/>
          </a:p>
        </p:txBody>
      </p:sp>
    </p:spTree>
    <p:extLst>
      <p:ext uri="{BB962C8B-B14F-4D97-AF65-F5344CB8AC3E}">
        <p14:creationId xmlns:p14="http://schemas.microsoft.com/office/powerpoint/2010/main" val="40130047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81186-15DC-466F-8FD2-1A3B664C5AF0}"/>
              </a:ext>
            </a:extLst>
          </p:cNvPr>
          <p:cNvSpPr>
            <a:spLocks noGrp="1"/>
          </p:cNvSpPr>
          <p:nvPr>
            <p:ph type="title"/>
          </p:nvPr>
        </p:nvSpPr>
        <p:spPr/>
        <p:txBody>
          <a:bodyPr/>
          <a:lstStyle/>
          <a:p>
            <a:r>
              <a:rPr lang="en-PH" b="1" dirty="0"/>
              <a:t>What is Feature Extraction?</a:t>
            </a:r>
            <a:br>
              <a:rPr lang="en-PH" b="1" dirty="0"/>
            </a:br>
            <a:endParaRPr lang="en-PH" dirty="0"/>
          </a:p>
        </p:txBody>
      </p:sp>
      <p:sp>
        <p:nvSpPr>
          <p:cNvPr id="3" name="Content Placeholder 2">
            <a:extLst>
              <a:ext uri="{FF2B5EF4-FFF2-40B4-BE49-F238E27FC236}">
                <a16:creationId xmlns:a16="http://schemas.microsoft.com/office/drawing/2014/main" id="{FF77ADE9-3C26-466E-BF29-33815ABC2413}"/>
              </a:ext>
            </a:extLst>
          </p:cNvPr>
          <p:cNvSpPr>
            <a:spLocks noGrp="1"/>
          </p:cNvSpPr>
          <p:nvPr>
            <p:ph idx="1"/>
          </p:nvPr>
        </p:nvSpPr>
        <p:spPr/>
        <p:txBody>
          <a:bodyPr/>
          <a:lstStyle/>
          <a:p>
            <a:r>
              <a:rPr lang="en-PH" dirty="0"/>
              <a:t>Feature extraction is the process of transforming raw data into a simplified and informative set of features or attributes. This reduces data complexity and highlights the most relevant information making it easier for machine learning models to analyze and learn from the data efficiently. It plays an important role in improving model accuracy and reducing computational costs by focusing on essential aspects of the data.</a:t>
            </a:r>
          </a:p>
          <a:p>
            <a:endParaRPr lang="en-PH" dirty="0"/>
          </a:p>
        </p:txBody>
      </p:sp>
    </p:spTree>
    <p:extLst>
      <p:ext uri="{BB962C8B-B14F-4D97-AF65-F5344CB8AC3E}">
        <p14:creationId xmlns:p14="http://schemas.microsoft.com/office/powerpoint/2010/main" val="33393971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5C339-575B-4B8B-93F4-C210850E9C8E}"/>
              </a:ext>
            </a:extLst>
          </p:cNvPr>
          <p:cNvSpPr>
            <a:spLocks noGrp="1"/>
          </p:cNvSpPr>
          <p:nvPr>
            <p:ph type="title"/>
          </p:nvPr>
        </p:nvSpPr>
        <p:spPr/>
        <p:txBody>
          <a:bodyPr/>
          <a:lstStyle/>
          <a:p>
            <a:r>
              <a:rPr lang="en-PH" b="1" dirty="0"/>
              <a:t>Importance of Feature Extraction</a:t>
            </a:r>
            <a:br>
              <a:rPr lang="en-PH" b="1" dirty="0"/>
            </a:br>
            <a:endParaRPr lang="en-PH" dirty="0"/>
          </a:p>
        </p:txBody>
      </p:sp>
      <p:sp>
        <p:nvSpPr>
          <p:cNvPr id="3" name="Content Placeholder 2">
            <a:extLst>
              <a:ext uri="{FF2B5EF4-FFF2-40B4-BE49-F238E27FC236}">
                <a16:creationId xmlns:a16="http://schemas.microsoft.com/office/drawing/2014/main" id="{8F7B44A4-B269-4E51-9D1D-EB68867A9D14}"/>
              </a:ext>
            </a:extLst>
          </p:cNvPr>
          <p:cNvSpPr>
            <a:spLocks noGrp="1"/>
          </p:cNvSpPr>
          <p:nvPr>
            <p:ph idx="1"/>
          </p:nvPr>
        </p:nvSpPr>
        <p:spPr/>
        <p:txBody>
          <a:bodyPr>
            <a:normAutofit fontScale="92500" lnSpcReduction="10000"/>
          </a:bodyPr>
          <a:lstStyle/>
          <a:p>
            <a:pPr lvl="0" fontAlgn="base"/>
            <a:r>
              <a:rPr lang="en-PH" b="1" dirty="0"/>
              <a:t>Reduced Computation Cost:</a:t>
            </a:r>
            <a:r>
              <a:rPr lang="en-PH" dirty="0"/>
              <a:t> Raw data, especially from images or large datasets can be very complex. Feature extraction makes this data simpler hence reducing the computational resources needed for processing.</a:t>
            </a:r>
          </a:p>
          <a:p>
            <a:pPr lvl="0" fontAlgn="base"/>
            <a:r>
              <a:rPr lang="en-PH" b="1" dirty="0"/>
              <a:t>Improved Model Performance: </a:t>
            </a:r>
            <a:r>
              <a:rPr lang="en-PH" dirty="0"/>
              <a:t>By focusing on key features, machine learning models can work with more relevant information leading to better performance and more accurate results.</a:t>
            </a:r>
          </a:p>
          <a:p>
            <a:pPr lvl="0" fontAlgn="base"/>
            <a:r>
              <a:rPr lang="en-PH" b="1" dirty="0"/>
              <a:t>Better Insights:</a:t>
            </a:r>
            <a:r>
              <a:rPr lang="en-PH" dirty="0"/>
              <a:t> Reducing the number of features helps algorithms concentrate on the most important data, eliminating noise and irrelevant information which can lead to deeper insights.</a:t>
            </a:r>
          </a:p>
          <a:p>
            <a:pPr lvl="0" fontAlgn="base"/>
            <a:r>
              <a:rPr lang="en-PH" b="1" dirty="0"/>
              <a:t>Prevention of Overfitting: </a:t>
            </a:r>
            <a:r>
              <a:rPr lang="en-PH" dirty="0"/>
              <a:t>Models with too many features may become too specific to the training data, making them perform poorly on new data. Feature extraction reduces this risk by simplifying the model.</a:t>
            </a:r>
          </a:p>
          <a:p>
            <a:endParaRPr lang="en-PH" dirty="0"/>
          </a:p>
        </p:txBody>
      </p:sp>
    </p:spTree>
    <p:extLst>
      <p:ext uri="{BB962C8B-B14F-4D97-AF65-F5344CB8AC3E}">
        <p14:creationId xmlns:p14="http://schemas.microsoft.com/office/powerpoint/2010/main" val="14453481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AFC4B-5B77-4B63-9C9E-E8C03DC43D52}"/>
              </a:ext>
            </a:extLst>
          </p:cNvPr>
          <p:cNvSpPr>
            <a:spLocks noGrp="1"/>
          </p:cNvSpPr>
          <p:nvPr>
            <p:ph type="title"/>
          </p:nvPr>
        </p:nvSpPr>
        <p:spPr/>
        <p:txBody>
          <a:bodyPr/>
          <a:lstStyle/>
          <a:p>
            <a:r>
              <a:rPr lang="en-PH" b="1" dirty="0"/>
              <a:t>Bag of words (</a:t>
            </a:r>
            <a:r>
              <a:rPr lang="en-PH" b="1" dirty="0" err="1"/>
              <a:t>BoW</a:t>
            </a:r>
            <a:r>
              <a:rPr lang="en-PH" b="1" dirty="0"/>
              <a:t>) model in NLP</a:t>
            </a:r>
            <a:br>
              <a:rPr lang="en-PH" b="1" dirty="0"/>
            </a:br>
            <a:endParaRPr lang="en-PH" dirty="0"/>
          </a:p>
        </p:txBody>
      </p:sp>
      <p:sp>
        <p:nvSpPr>
          <p:cNvPr id="3" name="Content Placeholder 2">
            <a:extLst>
              <a:ext uri="{FF2B5EF4-FFF2-40B4-BE49-F238E27FC236}">
                <a16:creationId xmlns:a16="http://schemas.microsoft.com/office/drawing/2014/main" id="{9303EB3D-B8DD-419F-B816-94FA215092AC}"/>
              </a:ext>
            </a:extLst>
          </p:cNvPr>
          <p:cNvSpPr>
            <a:spLocks noGrp="1"/>
          </p:cNvSpPr>
          <p:nvPr>
            <p:ph idx="1"/>
          </p:nvPr>
        </p:nvSpPr>
        <p:spPr/>
        <p:txBody>
          <a:bodyPr/>
          <a:lstStyle/>
          <a:p>
            <a:pPr fontAlgn="base"/>
            <a:r>
              <a:rPr lang="en-PH" dirty="0"/>
              <a:t>In Natural Language Processing (NLP) text data needs to be converted into numbers so that machine learning algorithms can understand it. One common method to do this is Bag of Words (</a:t>
            </a:r>
            <a:r>
              <a:rPr lang="en-PH" dirty="0" err="1"/>
              <a:t>BoW</a:t>
            </a:r>
            <a:r>
              <a:rPr lang="en-PH" dirty="0"/>
              <a:t>) model. It turns text like sentence, paragraph or document into a collection of words and counts how often each word appears but ignoring the order of the words. It does not consider the order of the words or their grammar but focuses on counting how often each word appears in the text.</a:t>
            </a:r>
          </a:p>
          <a:p>
            <a:r>
              <a:rPr lang="en-PH" dirty="0"/>
              <a:t>This makes it useful for tasks like text classification, sentiment analysis and clustering</a:t>
            </a:r>
          </a:p>
        </p:txBody>
      </p:sp>
    </p:spTree>
    <p:extLst>
      <p:ext uri="{BB962C8B-B14F-4D97-AF65-F5344CB8AC3E}">
        <p14:creationId xmlns:p14="http://schemas.microsoft.com/office/powerpoint/2010/main" val="2114976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FA70E-1284-46E9-86F2-B23B18552D37}"/>
              </a:ext>
            </a:extLst>
          </p:cNvPr>
          <p:cNvSpPr>
            <a:spLocks noGrp="1"/>
          </p:cNvSpPr>
          <p:nvPr>
            <p:ph type="title"/>
          </p:nvPr>
        </p:nvSpPr>
        <p:spPr/>
        <p:txBody>
          <a:bodyPr/>
          <a:lstStyle/>
          <a:p>
            <a:r>
              <a:rPr lang="en-PH" b="1" dirty="0"/>
              <a:t>Preprocessing the Text</a:t>
            </a:r>
            <a:br>
              <a:rPr lang="en-PH" b="1" dirty="0"/>
            </a:br>
            <a:endParaRPr lang="en-PH" dirty="0"/>
          </a:p>
        </p:txBody>
      </p:sp>
      <p:sp>
        <p:nvSpPr>
          <p:cNvPr id="3" name="Content Placeholder 2">
            <a:extLst>
              <a:ext uri="{FF2B5EF4-FFF2-40B4-BE49-F238E27FC236}">
                <a16:creationId xmlns:a16="http://schemas.microsoft.com/office/drawing/2014/main" id="{CF5E5258-D592-4CA9-BD8E-18FC06256D36}"/>
              </a:ext>
            </a:extLst>
          </p:cNvPr>
          <p:cNvSpPr>
            <a:spLocks noGrp="1"/>
          </p:cNvSpPr>
          <p:nvPr>
            <p:ph idx="1"/>
          </p:nvPr>
        </p:nvSpPr>
        <p:spPr/>
        <p:txBody>
          <a:bodyPr/>
          <a:lstStyle/>
          <a:p>
            <a:pPr fontAlgn="base"/>
            <a:r>
              <a:rPr lang="en-PH" dirty="0"/>
              <a:t>Before applying the </a:t>
            </a:r>
            <a:r>
              <a:rPr lang="en-PH" dirty="0" err="1"/>
              <a:t>BoW</a:t>
            </a:r>
            <a:r>
              <a:rPr lang="en-PH" dirty="0"/>
              <a:t> model, we need to preprocess the text. This includes:</a:t>
            </a:r>
          </a:p>
          <a:p>
            <a:pPr lvl="1" fontAlgn="base">
              <a:buFont typeface="Arial" panose="020B0604020202020204" pitchFamily="34" charset="0"/>
              <a:buChar char="•"/>
            </a:pPr>
            <a:r>
              <a:rPr lang="en-PH" dirty="0"/>
              <a:t>Converting the text to lowercase</a:t>
            </a:r>
          </a:p>
          <a:p>
            <a:pPr lvl="1" fontAlgn="base">
              <a:buFont typeface="Arial" panose="020B0604020202020204" pitchFamily="34" charset="0"/>
              <a:buChar char="•"/>
            </a:pPr>
            <a:r>
              <a:rPr lang="en-PH" dirty="0"/>
              <a:t>Removing non-word characters</a:t>
            </a:r>
          </a:p>
          <a:p>
            <a:pPr lvl="1" fontAlgn="base">
              <a:buFont typeface="Arial" panose="020B0604020202020204" pitchFamily="34" charset="0"/>
              <a:buChar char="•"/>
            </a:pPr>
            <a:r>
              <a:rPr lang="en-PH" dirty="0"/>
              <a:t>Removing extra spaces</a:t>
            </a:r>
          </a:p>
          <a:p>
            <a:endParaRPr lang="en-PH" dirty="0"/>
          </a:p>
        </p:txBody>
      </p:sp>
    </p:spTree>
    <p:extLst>
      <p:ext uri="{BB962C8B-B14F-4D97-AF65-F5344CB8AC3E}">
        <p14:creationId xmlns:p14="http://schemas.microsoft.com/office/powerpoint/2010/main" val="12511920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C8DD4-74A2-403D-9C86-0B73C6DD44EA}"/>
              </a:ext>
            </a:extLst>
          </p:cNvPr>
          <p:cNvSpPr>
            <a:spLocks noGrp="1"/>
          </p:cNvSpPr>
          <p:nvPr>
            <p:ph type="title"/>
          </p:nvPr>
        </p:nvSpPr>
        <p:spPr/>
        <p:txBody>
          <a:bodyPr/>
          <a:lstStyle/>
          <a:p>
            <a:r>
              <a:rPr lang="en-PH" dirty="0"/>
              <a:t>Counting Word Frequencies</a:t>
            </a:r>
          </a:p>
        </p:txBody>
      </p:sp>
      <p:sp>
        <p:nvSpPr>
          <p:cNvPr id="3" name="Content Placeholder 2">
            <a:extLst>
              <a:ext uri="{FF2B5EF4-FFF2-40B4-BE49-F238E27FC236}">
                <a16:creationId xmlns:a16="http://schemas.microsoft.com/office/drawing/2014/main" id="{52CDB789-3F2C-4067-8188-45253B1D3DF4}"/>
              </a:ext>
            </a:extLst>
          </p:cNvPr>
          <p:cNvSpPr>
            <a:spLocks noGrp="1"/>
          </p:cNvSpPr>
          <p:nvPr>
            <p:ph idx="1"/>
          </p:nvPr>
        </p:nvSpPr>
        <p:spPr>
          <a:xfrm>
            <a:off x="875201" y="1697318"/>
            <a:ext cx="8946541" cy="4195481"/>
          </a:xfrm>
        </p:spPr>
        <p:txBody>
          <a:bodyPr/>
          <a:lstStyle/>
          <a:p>
            <a:pPr fontAlgn="base"/>
            <a:r>
              <a:rPr lang="en-PH" dirty="0"/>
              <a:t>In this step, we count the frequency of each word in the preprocessed text. We will store these counts in a pandas </a:t>
            </a:r>
            <a:r>
              <a:rPr lang="en-PH" dirty="0" err="1"/>
              <a:t>DataFrame</a:t>
            </a:r>
            <a:r>
              <a:rPr lang="en-PH" dirty="0"/>
              <a:t> to view them easily in a tabular format.</a:t>
            </a:r>
          </a:p>
          <a:p>
            <a:pPr lvl="1" fontAlgn="base">
              <a:buFont typeface="Arial" panose="020B0604020202020204" pitchFamily="34" charset="0"/>
              <a:buChar char="•"/>
            </a:pPr>
            <a:r>
              <a:rPr lang="en-PH" dirty="0"/>
              <a:t>We initialize a dictionary to hold our word counts.</a:t>
            </a:r>
          </a:p>
          <a:p>
            <a:pPr lvl="1" fontAlgn="base">
              <a:buFont typeface="Arial" panose="020B0604020202020204" pitchFamily="34" charset="0"/>
              <a:buChar char="•"/>
            </a:pPr>
            <a:r>
              <a:rPr lang="en-PH" dirty="0"/>
              <a:t>Then, we </a:t>
            </a:r>
            <a:r>
              <a:rPr lang="en-PH" u="sng" dirty="0">
                <a:hlinkClick r:id="rId2"/>
              </a:rPr>
              <a:t>tokenize </a:t>
            </a:r>
            <a:r>
              <a:rPr lang="en-PH" dirty="0"/>
              <a:t>each sentence into words.</a:t>
            </a:r>
          </a:p>
          <a:p>
            <a:pPr lvl="1" fontAlgn="base">
              <a:buFont typeface="Arial" panose="020B0604020202020204" pitchFamily="34" charset="0"/>
              <a:buChar char="•"/>
            </a:pPr>
            <a:r>
              <a:rPr lang="en-PH" dirty="0"/>
              <a:t>For each word, we check if it exists in our dictionary. If it does, we increment its count. If it doesn’t, we add it to the dictionary with a count of 1.</a:t>
            </a:r>
          </a:p>
          <a:p>
            <a:endParaRPr lang="en-PH" dirty="0"/>
          </a:p>
        </p:txBody>
      </p:sp>
    </p:spTree>
    <p:extLst>
      <p:ext uri="{BB962C8B-B14F-4D97-AF65-F5344CB8AC3E}">
        <p14:creationId xmlns:p14="http://schemas.microsoft.com/office/powerpoint/2010/main" val="13682437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C450B-6089-4965-A792-7ABDAADDBB9A}"/>
              </a:ext>
            </a:extLst>
          </p:cNvPr>
          <p:cNvSpPr>
            <a:spLocks noGrp="1"/>
          </p:cNvSpPr>
          <p:nvPr>
            <p:ph type="title"/>
          </p:nvPr>
        </p:nvSpPr>
        <p:spPr/>
        <p:txBody>
          <a:bodyPr/>
          <a:lstStyle/>
          <a:p>
            <a:r>
              <a:rPr lang="en-PH" b="1" dirty="0"/>
              <a:t>Selecting the Most Frequent Words</a:t>
            </a:r>
            <a:br>
              <a:rPr lang="en-PH" b="1" dirty="0"/>
            </a:br>
            <a:endParaRPr lang="en-PH" dirty="0"/>
          </a:p>
        </p:txBody>
      </p:sp>
      <p:sp>
        <p:nvSpPr>
          <p:cNvPr id="3" name="Content Placeholder 2">
            <a:extLst>
              <a:ext uri="{FF2B5EF4-FFF2-40B4-BE49-F238E27FC236}">
                <a16:creationId xmlns:a16="http://schemas.microsoft.com/office/drawing/2014/main" id="{590675FC-D262-403A-BA6D-E02691B77EAB}"/>
              </a:ext>
            </a:extLst>
          </p:cNvPr>
          <p:cNvSpPr>
            <a:spLocks noGrp="1"/>
          </p:cNvSpPr>
          <p:nvPr>
            <p:ph idx="1"/>
          </p:nvPr>
        </p:nvSpPr>
        <p:spPr/>
        <p:txBody>
          <a:bodyPr/>
          <a:lstStyle/>
          <a:p>
            <a:r>
              <a:rPr lang="en-PH" dirty="0"/>
              <a:t>Now that we have counted the word frequencies, we will select the top N most frequent words (</a:t>
            </a:r>
            <a:r>
              <a:rPr lang="en-PH" dirty="0" err="1"/>
              <a:t>e.g</a:t>
            </a:r>
            <a:r>
              <a:rPr lang="en-PH" dirty="0"/>
              <a:t> top 10) to be used in the </a:t>
            </a:r>
            <a:r>
              <a:rPr lang="en-PH" dirty="0" err="1"/>
              <a:t>BoW</a:t>
            </a:r>
            <a:r>
              <a:rPr lang="en-PH" dirty="0"/>
              <a:t> model. We can visualize these frequent words using a bar chart to understand the distribution of words in our dataset.</a:t>
            </a:r>
          </a:p>
          <a:p>
            <a:endParaRPr lang="en-PH" dirty="0"/>
          </a:p>
        </p:txBody>
      </p:sp>
    </p:spTree>
    <p:extLst>
      <p:ext uri="{BB962C8B-B14F-4D97-AF65-F5344CB8AC3E}">
        <p14:creationId xmlns:p14="http://schemas.microsoft.com/office/powerpoint/2010/main" val="41574715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B3C19-C697-4102-A250-DDAB657164EF}"/>
              </a:ext>
            </a:extLst>
          </p:cNvPr>
          <p:cNvSpPr>
            <a:spLocks noGrp="1"/>
          </p:cNvSpPr>
          <p:nvPr>
            <p:ph type="title"/>
          </p:nvPr>
        </p:nvSpPr>
        <p:spPr/>
        <p:txBody>
          <a:bodyPr/>
          <a:lstStyle/>
          <a:p>
            <a:r>
              <a:rPr lang="en-PH" dirty="0"/>
              <a:t>Building the Bag of Words (</a:t>
            </a:r>
            <a:r>
              <a:rPr lang="en-PH" dirty="0" err="1"/>
              <a:t>BoW</a:t>
            </a:r>
            <a:r>
              <a:rPr lang="en-PH" dirty="0"/>
              <a:t>) Model</a:t>
            </a:r>
          </a:p>
        </p:txBody>
      </p:sp>
      <p:sp>
        <p:nvSpPr>
          <p:cNvPr id="3" name="Content Placeholder 2">
            <a:extLst>
              <a:ext uri="{FF2B5EF4-FFF2-40B4-BE49-F238E27FC236}">
                <a16:creationId xmlns:a16="http://schemas.microsoft.com/office/drawing/2014/main" id="{F91EB5DD-3098-4CBD-9305-B15EC1ACE9C5}"/>
              </a:ext>
            </a:extLst>
          </p:cNvPr>
          <p:cNvSpPr>
            <a:spLocks noGrp="1"/>
          </p:cNvSpPr>
          <p:nvPr>
            <p:ph idx="1"/>
          </p:nvPr>
        </p:nvSpPr>
        <p:spPr/>
        <p:txBody>
          <a:bodyPr/>
          <a:lstStyle/>
          <a:p>
            <a:pPr fontAlgn="base"/>
            <a:r>
              <a:rPr lang="en-PH" dirty="0"/>
              <a:t>Now we will build the Bag of Words (</a:t>
            </a:r>
            <a:r>
              <a:rPr lang="en-PH" dirty="0" err="1"/>
              <a:t>BoW</a:t>
            </a:r>
            <a:r>
              <a:rPr lang="en-PH" dirty="0"/>
              <a:t>) model. This model is represented as a binary matrix where each row corresponds to a sentence and each column represents one of the top N frequent words. A 1 in the matrix shows that the word is present in the sentence and a 0 shows its absence.</a:t>
            </a:r>
          </a:p>
          <a:p>
            <a:pPr fontAlgn="base"/>
            <a:r>
              <a:rPr lang="en-PH" dirty="0"/>
              <a:t>We will use a heatmap to visualize this binary matrix where green shows the presence of a word (1) and red shows its absence (0).</a:t>
            </a:r>
          </a:p>
          <a:p>
            <a:endParaRPr lang="en-PH" dirty="0"/>
          </a:p>
        </p:txBody>
      </p:sp>
    </p:spTree>
    <p:extLst>
      <p:ext uri="{BB962C8B-B14F-4D97-AF65-F5344CB8AC3E}">
        <p14:creationId xmlns:p14="http://schemas.microsoft.com/office/powerpoint/2010/main" val="24795835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A08E5-777A-417A-988B-695E2EC408CA}"/>
              </a:ext>
            </a:extLst>
          </p:cNvPr>
          <p:cNvSpPr>
            <a:spLocks noGrp="1"/>
          </p:cNvSpPr>
          <p:nvPr>
            <p:ph type="title"/>
          </p:nvPr>
        </p:nvSpPr>
        <p:spPr/>
        <p:txBody>
          <a:bodyPr/>
          <a:lstStyle/>
          <a:p>
            <a:r>
              <a:rPr lang="en-PH" b="1" dirty="0"/>
              <a:t>Visualizing Word Frequencies with a Word Cloud</a:t>
            </a:r>
            <a:br>
              <a:rPr lang="en-PH" b="1" dirty="0"/>
            </a:br>
            <a:endParaRPr lang="en-PH" dirty="0"/>
          </a:p>
        </p:txBody>
      </p:sp>
      <p:sp>
        <p:nvSpPr>
          <p:cNvPr id="3" name="Content Placeholder 2">
            <a:extLst>
              <a:ext uri="{FF2B5EF4-FFF2-40B4-BE49-F238E27FC236}">
                <a16:creationId xmlns:a16="http://schemas.microsoft.com/office/drawing/2014/main" id="{21F3DEBE-E6AA-42E3-8ED5-1AF08E9B825D}"/>
              </a:ext>
            </a:extLst>
          </p:cNvPr>
          <p:cNvSpPr>
            <a:spLocks noGrp="1"/>
          </p:cNvSpPr>
          <p:nvPr>
            <p:ph idx="1"/>
          </p:nvPr>
        </p:nvSpPr>
        <p:spPr/>
        <p:txBody>
          <a:bodyPr/>
          <a:lstStyle/>
          <a:p>
            <a:r>
              <a:rPr lang="en-PH" dirty="0"/>
              <a:t>Finally, we can create a </a:t>
            </a:r>
            <a:r>
              <a:rPr lang="en-PH" u="sng" dirty="0">
                <a:hlinkClick r:id="rId2"/>
              </a:rPr>
              <a:t>Word Cloud </a:t>
            </a:r>
            <a:r>
              <a:rPr lang="en-PH" dirty="0"/>
              <a:t>to visually represent the word frequencies. In a word cloud, the size of each word is proportional to its frequency which makes it easy to identify the most common words at a glance.</a:t>
            </a:r>
          </a:p>
          <a:p>
            <a:endParaRPr lang="en-PH" dirty="0"/>
          </a:p>
        </p:txBody>
      </p:sp>
    </p:spTree>
    <p:extLst>
      <p:ext uri="{BB962C8B-B14F-4D97-AF65-F5344CB8AC3E}">
        <p14:creationId xmlns:p14="http://schemas.microsoft.com/office/powerpoint/2010/main" val="11965252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5F163-8103-4B14-8748-F9039258B013}"/>
              </a:ext>
            </a:extLst>
          </p:cNvPr>
          <p:cNvSpPr>
            <a:spLocks noGrp="1"/>
          </p:cNvSpPr>
          <p:nvPr>
            <p:ph type="title"/>
          </p:nvPr>
        </p:nvSpPr>
        <p:spPr/>
        <p:txBody>
          <a:bodyPr/>
          <a:lstStyle/>
          <a:p>
            <a:r>
              <a:rPr lang="en-PH" b="1" dirty="0"/>
              <a:t>HOG Feature Visualization in Python Using </a:t>
            </a:r>
            <a:r>
              <a:rPr lang="en-PH" b="1" dirty="0" err="1"/>
              <a:t>skimage</a:t>
            </a:r>
            <a:br>
              <a:rPr lang="en-PH" b="1" dirty="0"/>
            </a:br>
            <a:endParaRPr lang="en-PH" dirty="0"/>
          </a:p>
        </p:txBody>
      </p:sp>
      <p:sp>
        <p:nvSpPr>
          <p:cNvPr id="3" name="Content Placeholder 2">
            <a:extLst>
              <a:ext uri="{FF2B5EF4-FFF2-40B4-BE49-F238E27FC236}">
                <a16:creationId xmlns:a16="http://schemas.microsoft.com/office/drawing/2014/main" id="{D982E653-8E71-4849-A4A8-289F1CDABFD5}"/>
              </a:ext>
            </a:extLst>
          </p:cNvPr>
          <p:cNvSpPr>
            <a:spLocks noGrp="1"/>
          </p:cNvSpPr>
          <p:nvPr>
            <p:ph idx="1"/>
          </p:nvPr>
        </p:nvSpPr>
        <p:spPr/>
        <p:txBody>
          <a:bodyPr/>
          <a:lstStyle/>
          <a:p>
            <a:r>
              <a:rPr lang="en-PH" dirty="0"/>
              <a:t>Object detection is a fundamental task in computer vision, where the goal is to identify and locate objects within images or videos. However, this task can be challenging due to the complexity of real-world images, which often contain varying lighting conditions, occlusions, and cluttered backgrounds. Traditional approaches to object detection rely on handcrafted features, which can be time-consuming and may not generalize well to new scenarios. One popular method for feature extraction is the Histogram of Oriented Gradients (HOG) technique.</a:t>
            </a:r>
          </a:p>
          <a:p>
            <a:endParaRPr lang="en-PH" dirty="0"/>
          </a:p>
        </p:txBody>
      </p:sp>
    </p:spTree>
    <p:extLst>
      <p:ext uri="{BB962C8B-B14F-4D97-AF65-F5344CB8AC3E}">
        <p14:creationId xmlns:p14="http://schemas.microsoft.com/office/powerpoint/2010/main" val="36367042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DE72F-F77A-4058-B94C-880673AD2B4D}"/>
              </a:ext>
            </a:extLst>
          </p:cNvPr>
          <p:cNvSpPr>
            <a:spLocks noGrp="1"/>
          </p:cNvSpPr>
          <p:nvPr>
            <p:ph type="title"/>
          </p:nvPr>
        </p:nvSpPr>
        <p:spPr/>
        <p:txBody>
          <a:bodyPr/>
          <a:lstStyle/>
          <a:p>
            <a:r>
              <a:rPr lang="en-PH" dirty="0"/>
              <a:t>Understanding HOG Features</a:t>
            </a:r>
          </a:p>
        </p:txBody>
      </p:sp>
      <p:sp>
        <p:nvSpPr>
          <p:cNvPr id="3" name="Content Placeholder 2">
            <a:extLst>
              <a:ext uri="{FF2B5EF4-FFF2-40B4-BE49-F238E27FC236}">
                <a16:creationId xmlns:a16="http://schemas.microsoft.com/office/drawing/2014/main" id="{A0AF8850-FEA9-4015-AED9-A62782542925}"/>
              </a:ext>
            </a:extLst>
          </p:cNvPr>
          <p:cNvSpPr>
            <a:spLocks noGrp="1"/>
          </p:cNvSpPr>
          <p:nvPr>
            <p:ph idx="1"/>
          </p:nvPr>
        </p:nvSpPr>
        <p:spPr/>
        <p:txBody>
          <a:bodyPr/>
          <a:lstStyle/>
          <a:p>
            <a:r>
              <a:rPr lang="en-PH" dirty="0"/>
              <a:t>HOG features were first introduced by </a:t>
            </a:r>
            <a:r>
              <a:rPr lang="en-PH" dirty="0" err="1"/>
              <a:t>Dalal</a:t>
            </a:r>
            <a:r>
              <a:rPr lang="en-PH" dirty="0"/>
              <a:t> and </a:t>
            </a:r>
            <a:r>
              <a:rPr lang="en-PH" dirty="0" err="1"/>
              <a:t>Triggs</a:t>
            </a:r>
            <a:r>
              <a:rPr lang="en-PH" dirty="0"/>
              <a:t> in 2005 as a robust feature extraction method for pedestrian detection. The core idea behind HOG is to capture the distribution of gradient orientations in an image, which can be used to describe the shape and appearance of objects. HOG features are computed by dividing an image into small cells, calculating the gradient orientations within each cell, and then aggregating these orientations into a histogram. This histogram represents the distribution of gradient orientations, which can be used as a feature vector for object detection.</a:t>
            </a:r>
          </a:p>
          <a:p>
            <a:endParaRPr lang="en-PH" dirty="0"/>
          </a:p>
        </p:txBody>
      </p:sp>
    </p:spTree>
    <p:extLst>
      <p:ext uri="{BB962C8B-B14F-4D97-AF65-F5344CB8AC3E}">
        <p14:creationId xmlns:p14="http://schemas.microsoft.com/office/powerpoint/2010/main" val="36096568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0EFA7-0562-4EDE-B1B9-FFE7810E5D4F}"/>
              </a:ext>
            </a:extLst>
          </p:cNvPr>
          <p:cNvSpPr>
            <a:spLocks noGrp="1"/>
          </p:cNvSpPr>
          <p:nvPr>
            <p:ph type="title"/>
          </p:nvPr>
        </p:nvSpPr>
        <p:spPr/>
        <p:txBody>
          <a:bodyPr/>
          <a:lstStyle/>
          <a:p>
            <a:r>
              <a:rPr lang="en-PH" b="1" dirty="0"/>
              <a:t>Advantages of HOG Feature</a:t>
            </a:r>
            <a:br>
              <a:rPr lang="en-PH" b="1" dirty="0"/>
            </a:br>
            <a:endParaRPr lang="en-PH" dirty="0"/>
          </a:p>
        </p:txBody>
      </p:sp>
      <p:sp>
        <p:nvSpPr>
          <p:cNvPr id="3" name="Content Placeholder 2">
            <a:extLst>
              <a:ext uri="{FF2B5EF4-FFF2-40B4-BE49-F238E27FC236}">
                <a16:creationId xmlns:a16="http://schemas.microsoft.com/office/drawing/2014/main" id="{57D02E09-CE9F-410D-8148-0B5A41CE47E6}"/>
              </a:ext>
            </a:extLst>
          </p:cNvPr>
          <p:cNvSpPr>
            <a:spLocks noGrp="1"/>
          </p:cNvSpPr>
          <p:nvPr>
            <p:ph idx="1"/>
          </p:nvPr>
        </p:nvSpPr>
        <p:spPr/>
        <p:txBody>
          <a:bodyPr>
            <a:normAutofit fontScale="92500" lnSpcReduction="10000"/>
          </a:bodyPr>
          <a:lstStyle/>
          <a:p>
            <a:pPr fontAlgn="base"/>
            <a:r>
              <a:rPr lang="en-PH" dirty="0"/>
              <a:t>HOG features have several benefits that make them an attractive choice for object detection:</a:t>
            </a:r>
          </a:p>
          <a:p>
            <a:pPr lvl="0" fontAlgn="base"/>
            <a:r>
              <a:rPr lang="en-PH" b="1" dirty="0"/>
              <a:t>Robustness to lighting changes</a:t>
            </a:r>
            <a:r>
              <a:rPr lang="en-PH" dirty="0"/>
              <a:t>: HOG features are invariant to changes in lighting conditions, making them suitable for object detection in real-world scenarios.</a:t>
            </a:r>
          </a:p>
          <a:p>
            <a:pPr lvl="0" fontAlgn="base"/>
            <a:r>
              <a:rPr lang="en-PH" b="1" dirty="0"/>
              <a:t>Robustness to occlusions</a:t>
            </a:r>
            <a:r>
              <a:rPr lang="en-PH" dirty="0"/>
              <a:t>: HOG features can handle partial occlusions, allowing for accurate object detection even when objects are partially hidden.</a:t>
            </a:r>
          </a:p>
          <a:p>
            <a:pPr lvl="0" fontAlgn="base"/>
            <a:r>
              <a:rPr lang="en-PH" b="1" dirty="0"/>
              <a:t>Computational efficiency</a:t>
            </a:r>
            <a:r>
              <a:rPr lang="en-PH" dirty="0"/>
              <a:t>: HOG features can be computed efficiently, making them suitable for real-time object detection applications.</a:t>
            </a:r>
          </a:p>
          <a:p>
            <a:pPr lvl="0" fontAlgn="base"/>
            <a:r>
              <a:rPr lang="en-PH" b="1" dirty="0"/>
              <a:t>Flexibility</a:t>
            </a:r>
            <a:r>
              <a:rPr lang="en-PH" dirty="0"/>
              <a:t>: HOG features can be used with various classification algorithms, such as Support Vector Machines (SVMs) and Random Forests, to name a few.</a:t>
            </a:r>
          </a:p>
          <a:p>
            <a:endParaRPr lang="en-PH" dirty="0"/>
          </a:p>
        </p:txBody>
      </p:sp>
    </p:spTree>
    <p:extLst>
      <p:ext uri="{BB962C8B-B14F-4D97-AF65-F5344CB8AC3E}">
        <p14:creationId xmlns:p14="http://schemas.microsoft.com/office/powerpoint/2010/main" val="1777000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62376-9CBF-401E-B14C-B67F01DD3173}"/>
              </a:ext>
            </a:extLst>
          </p:cNvPr>
          <p:cNvSpPr>
            <a:spLocks noGrp="1"/>
          </p:cNvSpPr>
          <p:nvPr>
            <p:ph type="title"/>
          </p:nvPr>
        </p:nvSpPr>
        <p:spPr/>
        <p:txBody>
          <a:bodyPr/>
          <a:lstStyle/>
          <a:p>
            <a:r>
              <a:rPr lang="en-PH" b="1" dirty="0"/>
              <a:t>Visualizing HOG Features with Python and </a:t>
            </a:r>
            <a:r>
              <a:rPr lang="en-PH" b="1" dirty="0" err="1"/>
              <a:t>skimage</a:t>
            </a:r>
            <a:br>
              <a:rPr lang="en-PH" b="1" dirty="0"/>
            </a:br>
            <a:endParaRPr lang="en-PH" dirty="0"/>
          </a:p>
        </p:txBody>
      </p:sp>
      <p:sp>
        <p:nvSpPr>
          <p:cNvPr id="3" name="Content Placeholder 2">
            <a:extLst>
              <a:ext uri="{FF2B5EF4-FFF2-40B4-BE49-F238E27FC236}">
                <a16:creationId xmlns:a16="http://schemas.microsoft.com/office/drawing/2014/main" id="{73140214-49F1-472A-949D-08CD55326A25}"/>
              </a:ext>
            </a:extLst>
          </p:cNvPr>
          <p:cNvSpPr>
            <a:spLocks noGrp="1"/>
          </p:cNvSpPr>
          <p:nvPr>
            <p:ph idx="1"/>
          </p:nvPr>
        </p:nvSpPr>
        <p:spPr/>
        <p:txBody>
          <a:bodyPr>
            <a:normAutofit fontScale="92500" lnSpcReduction="10000"/>
          </a:bodyPr>
          <a:lstStyle/>
          <a:p>
            <a:r>
              <a:rPr lang="en-PH" dirty="0"/>
              <a:t>To understand how we can implement and visualize Histogram of Oriented Gradients (HOG) features using Python's </a:t>
            </a:r>
            <a:r>
              <a:rPr lang="en-PH" dirty="0" err="1"/>
              <a:t>skimage</a:t>
            </a:r>
            <a:r>
              <a:rPr lang="en-PH" dirty="0"/>
              <a:t> library. Let's start by importing necessary modules: color conversion utilities from </a:t>
            </a:r>
            <a:r>
              <a:rPr lang="en-PH" dirty="0" err="1"/>
              <a:t>skimage</a:t>
            </a:r>
            <a:r>
              <a:rPr lang="en-PH" dirty="0"/>
              <a:t>, HOG feature extraction, image data, exposure utilities, input-output functions, and plotting functionalities from matplotlib.</a:t>
            </a:r>
          </a:p>
          <a:p>
            <a:r>
              <a:rPr lang="en-PH" altLang="en-US" dirty="0">
                <a:latin typeface="Arial" panose="020B0604020202020204" pitchFamily="34" charset="0"/>
                <a:ea typeface="Calibri" panose="020F0502020204030204" pitchFamily="34" charset="0"/>
                <a:cs typeface="Arial" panose="020B0604020202020204" pitchFamily="34" charset="0"/>
              </a:rPr>
              <a:t>An example image of an astronaut is loaded using</a:t>
            </a:r>
            <a:r>
              <a:rPr lang="en-PH" altLang="en-US" dirty="0">
                <a:latin typeface="Calibri" panose="020F0502020204030204" pitchFamily="34" charset="0"/>
                <a:ea typeface="Calibri" panose="020F0502020204030204" pitchFamily="34" charset="0"/>
                <a:cs typeface="Arial" panose="020B0604020202020204" pitchFamily="34" charset="0"/>
              </a:rPr>
              <a:t> </a:t>
            </a:r>
            <a:r>
              <a:rPr lang="en-PH" altLang="en-US" sz="1200" dirty="0" err="1">
                <a:latin typeface="Arial Unicode MS"/>
                <a:ea typeface="Calibri" panose="020F0502020204030204" pitchFamily="34" charset="0"/>
                <a:cs typeface="Courier New" panose="02070309020205020404" pitchFamily="49" charset="0"/>
              </a:rPr>
              <a:t>data.astronaut</a:t>
            </a:r>
            <a:r>
              <a:rPr lang="en-PH" altLang="en-US" sz="1200" dirty="0">
                <a:latin typeface="Arial Unicode MS"/>
                <a:ea typeface="Calibri" panose="020F0502020204030204" pitchFamily="34" charset="0"/>
                <a:cs typeface="Courier New" panose="02070309020205020404" pitchFamily="49" charset="0"/>
              </a:rPr>
              <a:t>()</a:t>
            </a:r>
            <a:r>
              <a:rPr lang="en-PH" altLang="en-US" dirty="0">
                <a:latin typeface="Arial" panose="020B0604020202020204" pitchFamily="34" charset="0"/>
                <a:ea typeface="Calibri" panose="020F0502020204030204" pitchFamily="34" charset="0"/>
                <a:cs typeface="Arial" panose="020B0604020202020204" pitchFamily="34" charset="0"/>
              </a:rPr>
              <a:t>. The image is converted to grayscale using</a:t>
            </a:r>
            <a:r>
              <a:rPr lang="en-PH" altLang="en-US" dirty="0">
                <a:latin typeface="Calibri" panose="020F0502020204030204" pitchFamily="34" charset="0"/>
                <a:ea typeface="Calibri" panose="020F0502020204030204" pitchFamily="34" charset="0"/>
                <a:cs typeface="Arial" panose="020B0604020202020204" pitchFamily="34" charset="0"/>
              </a:rPr>
              <a:t> </a:t>
            </a:r>
            <a:r>
              <a:rPr lang="en-PH" altLang="en-US" sz="1200" dirty="0">
                <a:latin typeface="Arial Unicode MS"/>
                <a:ea typeface="Calibri" panose="020F0502020204030204" pitchFamily="34" charset="0"/>
                <a:cs typeface="Courier New" panose="02070309020205020404" pitchFamily="49" charset="0"/>
              </a:rPr>
              <a:t>color.rgb2gray()</a:t>
            </a:r>
            <a:r>
              <a:rPr lang="en-PH" altLang="en-US" dirty="0">
                <a:latin typeface="Arial" panose="020B0604020202020204" pitchFamily="34" charset="0"/>
                <a:ea typeface="Calibri" panose="020F0502020204030204" pitchFamily="34" charset="0"/>
                <a:cs typeface="Arial" panose="020B0604020202020204" pitchFamily="34" charset="0"/>
              </a:rPr>
              <a:t>. converting the image to grayscale simplifies the feature extraction process and improves the performance and interpretability of the HOG algorithm for tasks such as object detection and recognition.</a:t>
            </a:r>
            <a:endParaRPr lang="en-PH" altLang="en-US" sz="2800" dirty="0">
              <a:latin typeface="Arial" panose="020B0604020202020204" pitchFamily="34" charset="0"/>
            </a:endParaRPr>
          </a:p>
          <a:p>
            <a:r>
              <a:rPr lang="en-PH" altLang="en-US" dirty="0">
                <a:latin typeface="Arial" panose="020B0604020202020204" pitchFamily="34" charset="0"/>
                <a:ea typeface="Calibri" panose="020F0502020204030204" pitchFamily="34" charset="0"/>
                <a:cs typeface="Arial" panose="020B0604020202020204" pitchFamily="34" charset="0"/>
              </a:rPr>
              <a:t>Next, HOG features are extracted from the grayscale image using the</a:t>
            </a:r>
            <a:r>
              <a:rPr lang="en-PH" altLang="en-US" dirty="0">
                <a:latin typeface="Calibri" panose="020F0502020204030204" pitchFamily="34" charset="0"/>
                <a:ea typeface="Calibri" panose="020F0502020204030204" pitchFamily="34" charset="0"/>
                <a:cs typeface="Arial" panose="020B0604020202020204" pitchFamily="34" charset="0"/>
              </a:rPr>
              <a:t> </a:t>
            </a:r>
            <a:r>
              <a:rPr lang="en-PH" altLang="en-US" sz="1200" dirty="0">
                <a:latin typeface="Arial Unicode MS"/>
                <a:ea typeface="Calibri" panose="020F0502020204030204" pitchFamily="34" charset="0"/>
                <a:cs typeface="Courier New" panose="02070309020205020404" pitchFamily="49" charset="0"/>
              </a:rPr>
              <a:t>hog()</a:t>
            </a:r>
            <a:r>
              <a:rPr lang="en-PH" altLang="en-US" dirty="0">
                <a:latin typeface="Calibri" panose="020F0502020204030204" pitchFamily="34" charset="0"/>
                <a:ea typeface="Calibri" panose="020F0502020204030204" pitchFamily="34" charset="0"/>
                <a:cs typeface="Arial" panose="020B0604020202020204" pitchFamily="34" charset="0"/>
              </a:rPr>
              <a:t> </a:t>
            </a:r>
            <a:r>
              <a:rPr lang="en-PH" altLang="en-US" dirty="0">
                <a:latin typeface="Arial" panose="020B0604020202020204" pitchFamily="34" charset="0"/>
                <a:ea typeface="Calibri" panose="020F0502020204030204" pitchFamily="34" charset="0"/>
                <a:cs typeface="Arial" panose="020B0604020202020204" pitchFamily="34" charset="0"/>
              </a:rPr>
              <a:t>function, specifying parameters like orientations, pixels per cell, and cells per block. The</a:t>
            </a:r>
            <a:r>
              <a:rPr lang="en-PH" altLang="en-US" dirty="0">
                <a:latin typeface="Calibri" panose="020F0502020204030204" pitchFamily="34" charset="0"/>
                <a:ea typeface="Calibri" panose="020F0502020204030204" pitchFamily="34" charset="0"/>
                <a:cs typeface="Arial" panose="020B0604020202020204" pitchFamily="34" charset="0"/>
              </a:rPr>
              <a:t> </a:t>
            </a:r>
            <a:r>
              <a:rPr lang="en-PH" altLang="en-US" sz="1200" dirty="0">
                <a:latin typeface="Arial Unicode MS"/>
                <a:ea typeface="Calibri" panose="020F0502020204030204" pitchFamily="34" charset="0"/>
                <a:cs typeface="Courier New" panose="02070309020205020404" pitchFamily="49" charset="0"/>
              </a:rPr>
              <a:t>visualize=True</a:t>
            </a:r>
            <a:r>
              <a:rPr lang="en-PH" altLang="en-US" dirty="0">
                <a:latin typeface="Calibri" panose="020F0502020204030204" pitchFamily="34" charset="0"/>
                <a:ea typeface="Calibri" panose="020F0502020204030204" pitchFamily="34" charset="0"/>
                <a:cs typeface="Arial" panose="020B0604020202020204" pitchFamily="34" charset="0"/>
              </a:rPr>
              <a:t> </a:t>
            </a:r>
            <a:r>
              <a:rPr lang="en-PH" altLang="en-US" dirty="0">
                <a:latin typeface="Arial" panose="020B0604020202020204" pitchFamily="34" charset="0"/>
                <a:ea typeface="Calibri" panose="020F0502020204030204" pitchFamily="34" charset="0"/>
                <a:cs typeface="Arial" panose="020B0604020202020204" pitchFamily="34" charset="0"/>
              </a:rPr>
              <a:t>argument ensures the computation of the HOG image.</a:t>
            </a:r>
            <a:endParaRPr lang="en-PH" altLang="en-US" sz="2800" dirty="0">
              <a:latin typeface="Arial" panose="020B0604020202020204" pitchFamily="34" charset="0"/>
            </a:endParaRPr>
          </a:p>
          <a:p>
            <a:endParaRPr lang="en-PH" dirty="0"/>
          </a:p>
        </p:txBody>
      </p:sp>
    </p:spTree>
    <p:extLst>
      <p:ext uri="{BB962C8B-B14F-4D97-AF65-F5344CB8AC3E}">
        <p14:creationId xmlns:p14="http://schemas.microsoft.com/office/powerpoint/2010/main" val="13703752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148B3-A2E1-44E4-917E-94DA82D1056F}"/>
              </a:ext>
            </a:extLst>
          </p:cNvPr>
          <p:cNvSpPr>
            <a:spLocks noGrp="1"/>
          </p:cNvSpPr>
          <p:nvPr>
            <p:ph type="title"/>
          </p:nvPr>
        </p:nvSpPr>
        <p:spPr/>
        <p:txBody>
          <a:bodyPr/>
          <a:lstStyle/>
          <a:p>
            <a:r>
              <a:rPr lang="en-PH" b="1" dirty="0"/>
              <a:t>Customizing HOG Feature Visualization with </a:t>
            </a:r>
            <a:r>
              <a:rPr lang="en-PH" b="1" dirty="0" err="1"/>
              <a:t>skimage</a:t>
            </a:r>
            <a:br>
              <a:rPr lang="en-PH" b="1" dirty="0"/>
            </a:br>
            <a:endParaRPr lang="en-PH" dirty="0"/>
          </a:p>
        </p:txBody>
      </p:sp>
      <p:sp>
        <p:nvSpPr>
          <p:cNvPr id="3" name="Content Placeholder 2">
            <a:extLst>
              <a:ext uri="{FF2B5EF4-FFF2-40B4-BE49-F238E27FC236}">
                <a16:creationId xmlns:a16="http://schemas.microsoft.com/office/drawing/2014/main" id="{13804CB0-9500-4024-9423-A840F8443DAE}"/>
              </a:ext>
            </a:extLst>
          </p:cNvPr>
          <p:cNvSpPr>
            <a:spLocks noGrp="1"/>
          </p:cNvSpPr>
          <p:nvPr>
            <p:ph idx="1"/>
          </p:nvPr>
        </p:nvSpPr>
        <p:spPr/>
        <p:txBody>
          <a:bodyPr>
            <a:normAutofit fontScale="92500" lnSpcReduction="20000"/>
          </a:bodyPr>
          <a:lstStyle/>
          <a:p>
            <a:r>
              <a:rPr lang="en-PH" altLang="en-US" dirty="0">
                <a:latin typeface="Arial" panose="020B0604020202020204" pitchFamily="34" charset="0"/>
                <a:ea typeface="Times New Roman" panose="02020603050405020304" pitchFamily="18" charset="0"/>
                <a:cs typeface="Arial" panose="020B0604020202020204" pitchFamily="34" charset="0"/>
              </a:rPr>
              <a:t>Following the same procedure, in this example we will compute HOG features for the coffee image, which is another built-in image in </a:t>
            </a:r>
            <a:r>
              <a:rPr lang="en-PH" altLang="en-US" dirty="0" err="1">
                <a:latin typeface="Arial" panose="020B0604020202020204" pitchFamily="34" charset="0"/>
                <a:ea typeface="Times New Roman" panose="02020603050405020304" pitchFamily="18" charset="0"/>
                <a:cs typeface="Arial" panose="020B0604020202020204" pitchFamily="34" charset="0"/>
              </a:rPr>
              <a:t>skimage</a:t>
            </a:r>
            <a:r>
              <a:rPr lang="en-PH" altLang="en-US" dirty="0">
                <a:latin typeface="Arial" panose="020B0604020202020204" pitchFamily="34" charset="0"/>
                <a:ea typeface="Times New Roman" panose="02020603050405020304" pitchFamily="18" charset="0"/>
                <a:cs typeface="Arial" panose="020B0604020202020204" pitchFamily="34" charset="0"/>
              </a:rPr>
              <a:t> using </a:t>
            </a:r>
            <a:r>
              <a:rPr lang="en-PH" altLang="en-US" sz="1200" dirty="0">
                <a:latin typeface="Arial Unicode MS"/>
                <a:ea typeface="Times New Roman" panose="02020603050405020304" pitchFamily="18" charset="0"/>
                <a:cs typeface="Courier New" panose="02070309020205020404" pitchFamily="49" charset="0"/>
              </a:rPr>
              <a:t>hog</a:t>
            </a:r>
            <a:r>
              <a:rPr lang="en-PH" altLang="en-US" dirty="0">
                <a:latin typeface="Arial" panose="020B0604020202020204" pitchFamily="34" charset="0"/>
                <a:ea typeface="Times New Roman" panose="02020603050405020304" pitchFamily="18" charset="0"/>
                <a:cs typeface="Arial" panose="020B0604020202020204" pitchFamily="34" charset="0"/>
              </a:rPr>
              <a:t> function from </a:t>
            </a:r>
            <a:r>
              <a:rPr lang="en-PH" altLang="en-US" dirty="0" err="1">
                <a:latin typeface="Arial" panose="020B0604020202020204" pitchFamily="34" charset="0"/>
                <a:ea typeface="Times New Roman" panose="02020603050405020304" pitchFamily="18" charset="0"/>
                <a:cs typeface="Arial" panose="020B0604020202020204" pitchFamily="34" charset="0"/>
              </a:rPr>
              <a:t>skimage</a:t>
            </a:r>
            <a:r>
              <a:rPr lang="en-PH" altLang="en-US" dirty="0">
                <a:latin typeface="Arial" panose="020B0604020202020204" pitchFamily="34" charset="0"/>
                <a:ea typeface="Times New Roman" panose="02020603050405020304" pitchFamily="18" charset="0"/>
                <a:cs typeface="Arial" panose="020B0604020202020204" pitchFamily="34" charset="0"/>
              </a:rPr>
              <a:t>. Following are the improvements made:</a:t>
            </a:r>
            <a:endParaRPr lang="en-PH" altLang="en-US" sz="2800" dirty="0">
              <a:latin typeface="Arial" panose="020B0604020202020204" pitchFamily="34" charset="0"/>
            </a:endParaRPr>
          </a:p>
          <a:p>
            <a:pPr marL="0" lvl="0" indent="0" defTabSz="914400" eaLnBrk="0" fontAlgn="base" hangingPunct="0">
              <a:spcBef>
                <a:spcPct val="0"/>
              </a:spcBef>
              <a:spcAft>
                <a:spcPct val="0"/>
              </a:spcAft>
              <a:buClrTx/>
              <a:buSzTx/>
              <a:buFontTx/>
              <a:buChar char="•"/>
              <a:tabLst>
                <a:tab pos="457200" algn="l"/>
              </a:tabLst>
            </a:pPr>
            <a:r>
              <a:rPr lang="en-PH" altLang="en-US" dirty="0">
                <a:latin typeface="Arial" panose="020B0604020202020204" pitchFamily="34" charset="0"/>
                <a:ea typeface="Calibri" panose="020F0502020204030204" pitchFamily="34" charset="0"/>
                <a:cs typeface="Arial" panose="020B0604020202020204" pitchFamily="34" charset="0"/>
              </a:rPr>
              <a:t>Added a title to the figure for better context.</a:t>
            </a:r>
            <a:endParaRPr lang="en-PH" altLang="en-US" sz="1050" dirty="0"/>
          </a:p>
          <a:p>
            <a:pPr marL="0" lvl="0" indent="0" defTabSz="914400" eaLnBrk="0" fontAlgn="base" hangingPunct="0">
              <a:spcBef>
                <a:spcPct val="0"/>
              </a:spcBef>
              <a:spcAft>
                <a:spcPct val="0"/>
              </a:spcAft>
              <a:buClrTx/>
              <a:buSzTx/>
              <a:buFontTx/>
              <a:buChar char="•"/>
              <a:tabLst>
                <a:tab pos="457200" algn="l"/>
              </a:tabLst>
            </a:pPr>
            <a:r>
              <a:rPr lang="en-PH" altLang="en-US" dirty="0">
                <a:latin typeface="Arial" panose="020B0604020202020204" pitchFamily="34" charset="0"/>
                <a:ea typeface="Calibri" panose="020F0502020204030204" pitchFamily="34" charset="0"/>
                <a:cs typeface="Arial" panose="020B0604020202020204" pitchFamily="34" charset="0"/>
              </a:rPr>
              <a:t>Added annotations to the subplots for clarity.</a:t>
            </a:r>
            <a:endParaRPr lang="en-PH" altLang="en-US" sz="1050" dirty="0"/>
          </a:p>
          <a:p>
            <a:pPr marL="0" lvl="0" indent="0" defTabSz="914400" eaLnBrk="0" fontAlgn="base" hangingPunct="0">
              <a:spcBef>
                <a:spcPct val="0"/>
              </a:spcBef>
              <a:spcAft>
                <a:spcPct val="0"/>
              </a:spcAft>
              <a:buClrTx/>
              <a:buSzTx/>
              <a:buFontTx/>
              <a:buChar char="•"/>
              <a:tabLst>
                <a:tab pos="457200" algn="l"/>
              </a:tabLst>
            </a:pPr>
            <a:r>
              <a:rPr lang="en-PH" altLang="en-US" dirty="0">
                <a:latin typeface="Arial" panose="020B0604020202020204" pitchFamily="34" charset="0"/>
                <a:ea typeface="Calibri" panose="020F0502020204030204" pitchFamily="34" charset="0"/>
                <a:cs typeface="Arial" panose="020B0604020202020204" pitchFamily="34" charset="0"/>
              </a:rPr>
              <a:t>Used</a:t>
            </a:r>
            <a:r>
              <a:rPr lang="en-PH" altLang="en-US" dirty="0">
                <a:latin typeface="Calibri" panose="020F0502020204030204" pitchFamily="34" charset="0"/>
                <a:ea typeface="Calibri" panose="020F0502020204030204" pitchFamily="34" charset="0"/>
                <a:cs typeface="Arial" panose="020B0604020202020204" pitchFamily="34" charset="0"/>
              </a:rPr>
              <a:t> </a:t>
            </a:r>
            <a:r>
              <a:rPr lang="en-PH" altLang="en-US" sz="1200" dirty="0">
                <a:latin typeface="Arial Unicode MS"/>
                <a:ea typeface="Calibri" panose="020F0502020204030204" pitchFamily="34" charset="0"/>
                <a:cs typeface="Courier New" panose="02070309020205020404" pitchFamily="49" charset="0"/>
              </a:rPr>
              <a:t>multichannel=True</a:t>
            </a:r>
            <a:r>
              <a:rPr lang="en-PH" altLang="en-US" dirty="0">
                <a:latin typeface="Calibri" panose="020F0502020204030204" pitchFamily="34" charset="0"/>
                <a:ea typeface="Calibri" panose="020F0502020204030204" pitchFamily="34" charset="0"/>
                <a:cs typeface="Arial" panose="020B0604020202020204" pitchFamily="34" charset="0"/>
              </a:rPr>
              <a:t> </a:t>
            </a:r>
            <a:r>
              <a:rPr lang="en-PH" altLang="en-US" dirty="0">
                <a:latin typeface="Arial" panose="020B0604020202020204" pitchFamily="34" charset="0"/>
                <a:ea typeface="Calibri" panose="020F0502020204030204" pitchFamily="34" charset="0"/>
                <a:cs typeface="Arial" panose="020B0604020202020204" pitchFamily="34" charset="0"/>
              </a:rPr>
              <a:t>to ensure compatibility with color images.</a:t>
            </a:r>
            <a:endParaRPr lang="en-PH" altLang="en-US" sz="1050" dirty="0"/>
          </a:p>
          <a:p>
            <a:pPr marL="0" lvl="0" indent="0" defTabSz="914400" eaLnBrk="0" fontAlgn="base" hangingPunct="0">
              <a:spcBef>
                <a:spcPct val="0"/>
              </a:spcBef>
              <a:spcAft>
                <a:spcPct val="0"/>
              </a:spcAft>
              <a:buClrTx/>
              <a:buSzTx/>
              <a:buFontTx/>
              <a:buChar char="•"/>
              <a:tabLst>
                <a:tab pos="457200" algn="l"/>
              </a:tabLst>
            </a:pPr>
            <a:r>
              <a:rPr lang="en-PH" altLang="en-US" dirty="0">
                <a:latin typeface="Arial" panose="020B0604020202020204" pitchFamily="34" charset="0"/>
                <a:ea typeface="Calibri" panose="020F0502020204030204" pitchFamily="34" charset="0"/>
                <a:cs typeface="Arial" panose="020B0604020202020204" pitchFamily="34" charset="0"/>
              </a:rPr>
              <a:t>Removed the unnecessary channel axis specification.</a:t>
            </a:r>
            <a:endParaRPr lang="en-PH" altLang="en-US" sz="1050" dirty="0"/>
          </a:p>
          <a:p>
            <a:pPr marL="0" lvl="0" indent="0" defTabSz="914400" eaLnBrk="0" fontAlgn="base" hangingPunct="0">
              <a:spcBef>
                <a:spcPct val="0"/>
              </a:spcBef>
              <a:spcAft>
                <a:spcPct val="0"/>
              </a:spcAft>
              <a:buClrTx/>
              <a:buSzTx/>
              <a:buFontTx/>
              <a:buChar char="•"/>
              <a:tabLst>
                <a:tab pos="457200" algn="l"/>
              </a:tabLst>
            </a:pPr>
            <a:r>
              <a:rPr lang="en-PH" altLang="en-US" dirty="0">
                <a:latin typeface="Arial" panose="020B0604020202020204" pitchFamily="34" charset="0"/>
                <a:ea typeface="Calibri" panose="020F0502020204030204" pitchFamily="34" charset="0"/>
                <a:cs typeface="Arial" panose="020B0604020202020204" pitchFamily="34" charset="0"/>
              </a:rPr>
              <a:t>Improved layout and spacing for better aesthetics.</a:t>
            </a:r>
            <a:endParaRPr lang="en-PH" altLang="en-US" sz="2800" dirty="0">
              <a:latin typeface="Arial" panose="020B0604020202020204" pitchFamily="34" charset="0"/>
            </a:endParaRPr>
          </a:p>
          <a:p>
            <a:r>
              <a:rPr lang="en-PH" dirty="0"/>
              <a:t>HOG features offer a powerful tool for object detection, providing a robust and efficient way to represent images. By visualizing HOG features using Python and </a:t>
            </a:r>
            <a:r>
              <a:rPr lang="en-PH" dirty="0" err="1"/>
              <a:t>skimage</a:t>
            </a:r>
            <a:r>
              <a:rPr lang="en-PH" dirty="0"/>
              <a:t>, we can gain a deeper understanding of how these features capture the essence of an image, enabling accurate object detection in various scenarios. Whether you're working on pedestrian detection, facial recognition, or object tracking, HOG features are an essential component of any computer vision pipeline.</a:t>
            </a:r>
          </a:p>
          <a:p>
            <a:endParaRPr lang="en-PH" dirty="0"/>
          </a:p>
        </p:txBody>
      </p:sp>
      <p:sp>
        <p:nvSpPr>
          <p:cNvPr id="6" name="Rectangle 3">
            <a:extLst>
              <a:ext uri="{FF2B5EF4-FFF2-40B4-BE49-F238E27FC236}">
                <a16:creationId xmlns:a16="http://schemas.microsoft.com/office/drawing/2014/main" id="{AD43E2C9-DE30-4B83-A6FD-CD6B59387AA6}"/>
              </a:ext>
            </a:extLst>
          </p:cNvPr>
          <p:cNvSpPr>
            <a:spLocks noChangeArrowheads="1"/>
          </p:cNvSpPr>
          <p:nvPr/>
        </p:nvSpPr>
        <p:spPr bwMode="auto">
          <a:xfrm>
            <a:off x="0" y="43934"/>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endParaRPr kumimoji="0" lang="en-PH"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459033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FE8D3-85A1-4FB0-98CA-9FE41DB5CBE5}"/>
              </a:ext>
            </a:extLst>
          </p:cNvPr>
          <p:cNvSpPr>
            <a:spLocks noGrp="1"/>
          </p:cNvSpPr>
          <p:nvPr>
            <p:ph type="title"/>
          </p:nvPr>
        </p:nvSpPr>
        <p:spPr/>
        <p:txBody>
          <a:bodyPr/>
          <a:lstStyle/>
          <a:p>
            <a:r>
              <a:rPr lang="en-PH" b="1" dirty="0"/>
              <a:t>Introduction to Convolution Neural Network</a:t>
            </a:r>
            <a:br>
              <a:rPr lang="en-PH" b="1" dirty="0"/>
            </a:br>
            <a:endParaRPr lang="en-PH" dirty="0"/>
          </a:p>
        </p:txBody>
      </p:sp>
      <p:sp>
        <p:nvSpPr>
          <p:cNvPr id="3" name="Content Placeholder 2">
            <a:extLst>
              <a:ext uri="{FF2B5EF4-FFF2-40B4-BE49-F238E27FC236}">
                <a16:creationId xmlns:a16="http://schemas.microsoft.com/office/drawing/2014/main" id="{C6A825EF-1BC9-41C2-B0CA-D8C26B55F4F4}"/>
              </a:ext>
            </a:extLst>
          </p:cNvPr>
          <p:cNvSpPr>
            <a:spLocks noGrp="1"/>
          </p:cNvSpPr>
          <p:nvPr>
            <p:ph idx="1"/>
          </p:nvPr>
        </p:nvSpPr>
        <p:spPr/>
        <p:txBody>
          <a:bodyPr/>
          <a:lstStyle/>
          <a:p>
            <a:r>
              <a:rPr lang="en-PH" dirty="0"/>
              <a:t>Convolutional Neural Networks (CNNs), also known as </a:t>
            </a:r>
            <a:r>
              <a:rPr lang="en-PH" dirty="0" err="1"/>
              <a:t>ConvNets</a:t>
            </a:r>
            <a:r>
              <a:rPr lang="en-PH" dirty="0"/>
              <a:t>, are neural network architectures inspired by the human visual system and are widely used in computer vision tasks. They are designed to process structured grid-like data, especially images by capturing spatial relationships between pixels.</a:t>
            </a:r>
          </a:p>
          <a:p>
            <a:pPr lvl="1" fontAlgn="base">
              <a:buFont typeface="Arial" panose="020B0604020202020204" pitchFamily="34" charset="0"/>
              <a:buChar char="•"/>
            </a:pPr>
            <a:r>
              <a:rPr lang="en-PH" dirty="0"/>
              <a:t>Automatically learn hierarchical features through convolution operations, from simple edges and textures to complex shapes and objects.</a:t>
            </a:r>
          </a:p>
          <a:p>
            <a:pPr lvl="1" fontAlgn="base">
              <a:buFont typeface="Arial" panose="020B0604020202020204" pitchFamily="34" charset="0"/>
              <a:buChar char="•"/>
            </a:pPr>
            <a:r>
              <a:rPr lang="en-PH" dirty="0"/>
              <a:t>Detect objects at different positions within an image, ensuring robustness to spatial variations.</a:t>
            </a:r>
          </a:p>
          <a:p>
            <a:pPr lvl="1" fontAlgn="base">
              <a:buFont typeface="Arial" panose="020B0604020202020204" pitchFamily="34" charset="0"/>
              <a:buChar char="•"/>
            </a:pPr>
            <a:r>
              <a:rPr lang="en-PH" dirty="0"/>
              <a:t>Reduce computational complexity by processing local regions instead of the entire image at once.</a:t>
            </a:r>
          </a:p>
          <a:p>
            <a:endParaRPr lang="en-PH" dirty="0"/>
          </a:p>
        </p:txBody>
      </p:sp>
    </p:spTree>
    <p:extLst>
      <p:ext uri="{BB962C8B-B14F-4D97-AF65-F5344CB8AC3E}">
        <p14:creationId xmlns:p14="http://schemas.microsoft.com/office/powerpoint/2010/main" val="17000539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D78D018-9B56-4421-9204-EF2ADCB2CE1C}"/>
              </a:ext>
            </a:extLst>
          </p:cNvPr>
          <p:cNvPicPr/>
          <p:nvPr/>
        </p:nvPicPr>
        <p:blipFill>
          <a:blip r:embed="rId2"/>
          <a:stretch>
            <a:fillRect/>
          </a:stretch>
        </p:blipFill>
        <p:spPr>
          <a:xfrm>
            <a:off x="-1" y="-1"/>
            <a:ext cx="12530667" cy="6993467"/>
          </a:xfrm>
          <a:prstGeom prst="rect">
            <a:avLst/>
          </a:prstGeom>
        </p:spPr>
      </p:pic>
    </p:spTree>
    <p:extLst>
      <p:ext uri="{BB962C8B-B14F-4D97-AF65-F5344CB8AC3E}">
        <p14:creationId xmlns:p14="http://schemas.microsoft.com/office/powerpoint/2010/main" val="41335805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B1235-44F7-4333-912E-4178E8FFB950}"/>
              </a:ext>
            </a:extLst>
          </p:cNvPr>
          <p:cNvSpPr>
            <a:spLocks noGrp="1"/>
          </p:cNvSpPr>
          <p:nvPr>
            <p:ph type="title"/>
          </p:nvPr>
        </p:nvSpPr>
        <p:spPr/>
        <p:txBody>
          <a:bodyPr/>
          <a:lstStyle/>
          <a:p>
            <a:r>
              <a:rPr lang="en-PH" b="1" dirty="0"/>
              <a:t>Key Components of CNN</a:t>
            </a:r>
            <a:br>
              <a:rPr lang="en-PH" b="1" dirty="0"/>
            </a:br>
            <a:endParaRPr lang="en-PH" dirty="0"/>
          </a:p>
        </p:txBody>
      </p:sp>
      <p:sp>
        <p:nvSpPr>
          <p:cNvPr id="3" name="Content Placeholder 2">
            <a:extLst>
              <a:ext uri="{FF2B5EF4-FFF2-40B4-BE49-F238E27FC236}">
                <a16:creationId xmlns:a16="http://schemas.microsoft.com/office/drawing/2014/main" id="{FFCEC7EF-56F5-4C4C-A027-7DA9B3943DAE}"/>
              </a:ext>
            </a:extLst>
          </p:cNvPr>
          <p:cNvSpPr>
            <a:spLocks noGrp="1"/>
          </p:cNvSpPr>
          <p:nvPr>
            <p:ph idx="1"/>
          </p:nvPr>
        </p:nvSpPr>
        <p:spPr/>
        <p:txBody>
          <a:bodyPr/>
          <a:lstStyle/>
          <a:p>
            <a:pPr fontAlgn="base"/>
            <a:r>
              <a:rPr lang="en-PH" dirty="0"/>
              <a:t>A complete Convolution Neural Networks architecture is also known as </a:t>
            </a:r>
            <a:r>
              <a:rPr lang="en-PH" dirty="0" err="1"/>
              <a:t>covnets</a:t>
            </a:r>
            <a:r>
              <a:rPr lang="en-PH" dirty="0"/>
              <a:t>. A </a:t>
            </a:r>
            <a:r>
              <a:rPr lang="en-PH" dirty="0" err="1"/>
              <a:t>covnets</a:t>
            </a:r>
            <a:r>
              <a:rPr lang="en-PH" dirty="0"/>
              <a:t> is a sequence of layers and every layer transforms one volume to another through a differentiable function. </a:t>
            </a:r>
          </a:p>
          <a:p>
            <a:pPr fontAlgn="base"/>
            <a:r>
              <a:rPr lang="en-PH" dirty="0"/>
              <a:t>Let’s take an example by running a </a:t>
            </a:r>
            <a:r>
              <a:rPr lang="en-PH" dirty="0" err="1"/>
              <a:t>covnets</a:t>
            </a:r>
            <a:r>
              <a:rPr lang="en-PH" dirty="0"/>
              <a:t> on of image of dimension 32 x 32 x 3. </a:t>
            </a:r>
          </a:p>
          <a:p>
            <a:endParaRPr lang="en-PH" dirty="0"/>
          </a:p>
        </p:txBody>
      </p:sp>
    </p:spTree>
    <p:extLst>
      <p:ext uri="{BB962C8B-B14F-4D97-AF65-F5344CB8AC3E}">
        <p14:creationId xmlns:p14="http://schemas.microsoft.com/office/powerpoint/2010/main" val="7993466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D0FCA-7775-4097-8291-43FBAFEDA623}"/>
              </a:ext>
            </a:extLst>
          </p:cNvPr>
          <p:cNvSpPr>
            <a:spLocks noGrp="1"/>
          </p:cNvSpPr>
          <p:nvPr>
            <p:ph type="title"/>
          </p:nvPr>
        </p:nvSpPr>
        <p:spPr/>
        <p:txBody>
          <a:bodyPr/>
          <a:lstStyle/>
          <a:p>
            <a:r>
              <a:rPr lang="en-PH" dirty="0"/>
              <a:t>Input Layer</a:t>
            </a:r>
            <a:endParaRPr lang="en-PH" b="1" dirty="0"/>
          </a:p>
        </p:txBody>
      </p:sp>
      <p:sp>
        <p:nvSpPr>
          <p:cNvPr id="3" name="Content Placeholder 2">
            <a:extLst>
              <a:ext uri="{FF2B5EF4-FFF2-40B4-BE49-F238E27FC236}">
                <a16:creationId xmlns:a16="http://schemas.microsoft.com/office/drawing/2014/main" id="{7647962B-17B9-4D10-9DAE-DE19FC92F446}"/>
              </a:ext>
            </a:extLst>
          </p:cNvPr>
          <p:cNvSpPr>
            <a:spLocks noGrp="1"/>
          </p:cNvSpPr>
          <p:nvPr>
            <p:ph idx="1"/>
          </p:nvPr>
        </p:nvSpPr>
        <p:spPr/>
        <p:txBody>
          <a:bodyPr/>
          <a:lstStyle/>
          <a:p>
            <a:pPr fontAlgn="base"/>
            <a:r>
              <a:rPr lang="en-PH" dirty="0"/>
              <a:t>The input layer receives the raw image data and passes it to the network for processing. In CNNs, input is typically a 3D volume (width × height × depth).</a:t>
            </a:r>
          </a:p>
          <a:p>
            <a:pPr lvl="1" fontAlgn="base"/>
            <a:r>
              <a:rPr lang="en-PH" dirty="0"/>
              <a:t>Stores pixel values of the image (e.g., 32 × 32 × 3 for RGB images).</a:t>
            </a:r>
          </a:p>
          <a:p>
            <a:pPr lvl="1" fontAlgn="base"/>
            <a:r>
              <a:rPr lang="en-PH" dirty="0"/>
              <a:t>Preserves the spatial structure of the image for further feature extraction.</a:t>
            </a:r>
          </a:p>
          <a:p>
            <a:endParaRPr lang="en-PH" dirty="0"/>
          </a:p>
        </p:txBody>
      </p:sp>
    </p:spTree>
    <p:extLst>
      <p:ext uri="{BB962C8B-B14F-4D97-AF65-F5344CB8AC3E}">
        <p14:creationId xmlns:p14="http://schemas.microsoft.com/office/powerpoint/2010/main" val="36595479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CF762-9DBF-4F27-B059-071B4FCFE6D4}"/>
              </a:ext>
            </a:extLst>
          </p:cNvPr>
          <p:cNvSpPr>
            <a:spLocks noGrp="1"/>
          </p:cNvSpPr>
          <p:nvPr>
            <p:ph type="title"/>
          </p:nvPr>
        </p:nvSpPr>
        <p:spPr/>
        <p:txBody>
          <a:bodyPr/>
          <a:lstStyle/>
          <a:p>
            <a:r>
              <a:rPr lang="en-PH" dirty="0"/>
              <a:t>Convolutional Layer</a:t>
            </a:r>
          </a:p>
        </p:txBody>
      </p:sp>
      <p:sp>
        <p:nvSpPr>
          <p:cNvPr id="3" name="Content Placeholder 2">
            <a:extLst>
              <a:ext uri="{FF2B5EF4-FFF2-40B4-BE49-F238E27FC236}">
                <a16:creationId xmlns:a16="http://schemas.microsoft.com/office/drawing/2014/main" id="{0BA0FD40-6947-43C0-BC8C-9AC63FBC8331}"/>
              </a:ext>
            </a:extLst>
          </p:cNvPr>
          <p:cNvSpPr>
            <a:spLocks noGrp="1"/>
          </p:cNvSpPr>
          <p:nvPr>
            <p:ph idx="1"/>
          </p:nvPr>
        </p:nvSpPr>
        <p:spPr/>
        <p:txBody>
          <a:bodyPr/>
          <a:lstStyle/>
          <a:p>
            <a:pPr fontAlgn="base"/>
            <a:r>
              <a:rPr lang="en-PH" dirty="0"/>
              <a:t>The </a:t>
            </a:r>
            <a:r>
              <a:rPr lang="en-PH" u="sng" dirty="0">
                <a:hlinkClick r:id="rId2"/>
              </a:rPr>
              <a:t>Convolutional Layer </a:t>
            </a:r>
            <a:r>
              <a:rPr lang="en-PH" dirty="0"/>
              <a:t>is responsible for extracting important features from the input data. It applies a set of learnable filters (kernels) that slide over the image and compute the dot product between the filter weights and corresponding image patches, producing feature maps.</a:t>
            </a:r>
          </a:p>
          <a:p>
            <a:pPr lvl="1" fontAlgn="base"/>
            <a:r>
              <a:rPr lang="en-PH" dirty="0"/>
              <a:t>Uses small filters (e.g., 2×2, 3×3, 5×5) to scan the input image.</a:t>
            </a:r>
          </a:p>
          <a:p>
            <a:pPr lvl="1" fontAlgn="base"/>
            <a:r>
              <a:rPr lang="en-PH" dirty="0"/>
              <a:t>Generates feature maps that capture patterns such as edges, textures and shapes.</a:t>
            </a:r>
          </a:p>
          <a:p>
            <a:endParaRPr lang="en-PH" dirty="0"/>
          </a:p>
        </p:txBody>
      </p:sp>
    </p:spTree>
    <p:extLst>
      <p:ext uri="{BB962C8B-B14F-4D97-AF65-F5344CB8AC3E}">
        <p14:creationId xmlns:p14="http://schemas.microsoft.com/office/powerpoint/2010/main" val="8162378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49EF8-9EAC-489A-8096-CF8C0E76DEAA}"/>
              </a:ext>
            </a:extLst>
          </p:cNvPr>
          <p:cNvSpPr>
            <a:spLocks noGrp="1"/>
          </p:cNvSpPr>
          <p:nvPr>
            <p:ph type="title"/>
          </p:nvPr>
        </p:nvSpPr>
        <p:spPr/>
        <p:txBody>
          <a:bodyPr/>
          <a:lstStyle/>
          <a:p>
            <a:endParaRPr lang="en-PH"/>
          </a:p>
        </p:txBody>
      </p:sp>
      <p:sp>
        <p:nvSpPr>
          <p:cNvPr id="3" name="Content Placeholder 2">
            <a:extLst>
              <a:ext uri="{FF2B5EF4-FFF2-40B4-BE49-F238E27FC236}">
                <a16:creationId xmlns:a16="http://schemas.microsoft.com/office/drawing/2014/main" id="{03754B55-F77A-4C70-B2CE-95FC8F33B5E6}"/>
              </a:ext>
            </a:extLst>
          </p:cNvPr>
          <p:cNvSpPr>
            <a:spLocks noGrp="1"/>
          </p:cNvSpPr>
          <p:nvPr>
            <p:ph idx="1"/>
          </p:nvPr>
        </p:nvSpPr>
        <p:spPr/>
        <p:txBody>
          <a:bodyPr/>
          <a:lstStyle/>
          <a:p>
            <a:pPr fontAlgn="base"/>
            <a:r>
              <a:rPr lang="en-PH" b="1" i="1" dirty="0"/>
              <a:t>Example: </a:t>
            </a:r>
            <a:r>
              <a:rPr lang="en-PH" i="1" dirty="0"/>
              <a:t>Using 12 filters results in an output volume of 32 × 32 × 12.</a:t>
            </a:r>
            <a:endParaRPr lang="en-PH" dirty="0"/>
          </a:p>
          <a:p>
            <a:pPr fontAlgn="base"/>
            <a:r>
              <a:rPr lang="en-PH" dirty="0"/>
              <a:t>The </a:t>
            </a:r>
            <a:r>
              <a:rPr lang="en-PH" u="sng" dirty="0">
                <a:hlinkClick r:id="rId2"/>
              </a:rPr>
              <a:t>Convolutional Layer </a:t>
            </a:r>
            <a:r>
              <a:rPr lang="en-PH" dirty="0"/>
              <a:t>is responsible for extracting important features from the input data. It applies a set of learnable filters (kernels) that slide over the image and compute the dot product between the filter weights and corresponding image patches, producing feature maps.</a:t>
            </a:r>
          </a:p>
          <a:p>
            <a:pPr lvl="0" fontAlgn="base"/>
            <a:r>
              <a:rPr lang="en-PH" dirty="0"/>
              <a:t>Uses small filters (e.g., 2×2, 3×3, 5×5) to scan the input image.</a:t>
            </a:r>
          </a:p>
          <a:p>
            <a:pPr lvl="0" fontAlgn="base"/>
            <a:r>
              <a:rPr lang="en-PH" dirty="0"/>
              <a:t>Generates feature maps that capture patterns such as edges, textures and shapes.</a:t>
            </a:r>
          </a:p>
          <a:p>
            <a:pPr fontAlgn="base"/>
            <a:r>
              <a:rPr lang="en-PH" b="1" i="1" dirty="0"/>
              <a:t>Example: </a:t>
            </a:r>
            <a:r>
              <a:rPr lang="en-PH" i="1" dirty="0"/>
              <a:t>Using 12 filters results in an output volume of 32 × 32 × 12.</a:t>
            </a:r>
            <a:endParaRPr lang="en-PH" dirty="0"/>
          </a:p>
          <a:p>
            <a:endParaRPr lang="en-PH" dirty="0"/>
          </a:p>
        </p:txBody>
      </p:sp>
    </p:spTree>
    <p:extLst>
      <p:ext uri="{BB962C8B-B14F-4D97-AF65-F5344CB8AC3E}">
        <p14:creationId xmlns:p14="http://schemas.microsoft.com/office/powerpoint/2010/main" val="20068808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75C6A8F-2AEF-42CE-BED4-A8A6E29B2BC6}"/>
              </a:ext>
            </a:extLst>
          </p:cNvPr>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1703548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0253C-372F-4DA9-A891-C9ED95A7E345}"/>
              </a:ext>
            </a:extLst>
          </p:cNvPr>
          <p:cNvSpPr>
            <a:spLocks noGrp="1"/>
          </p:cNvSpPr>
          <p:nvPr>
            <p:ph type="title"/>
          </p:nvPr>
        </p:nvSpPr>
        <p:spPr/>
        <p:txBody>
          <a:bodyPr/>
          <a:lstStyle/>
          <a:p>
            <a:r>
              <a:rPr lang="en-PH" dirty="0"/>
              <a:t>Flattening</a:t>
            </a:r>
          </a:p>
        </p:txBody>
      </p:sp>
      <p:sp>
        <p:nvSpPr>
          <p:cNvPr id="3" name="Content Placeholder 2">
            <a:extLst>
              <a:ext uri="{FF2B5EF4-FFF2-40B4-BE49-F238E27FC236}">
                <a16:creationId xmlns:a16="http://schemas.microsoft.com/office/drawing/2014/main" id="{F804FB79-4056-462C-BEDC-BF4DA8EB2FD9}"/>
              </a:ext>
            </a:extLst>
          </p:cNvPr>
          <p:cNvSpPr>
            <a:spLocks noGrp="1"/>
          </p:cNvSpPr>
          <p:nvPr>
            <p:ph idx="1"/>
          </p:nvPr>
        </p:nvSpPr>
        <p:spPr/>
        <p:txBody>
          <a:bodyPr/>
          <a:lstStyle/>
          <a:p>
            <a:pPr fontAlgn="base"/>
            <a:r>
              <a:rPr lang="en-PH" dirty="0"/>
              <a:t>Flattening converts the multi-dimensional feature maps into a one-dimensional vector after convolution and pooling. This vector is then passed to the fully connected layer for classification or regression.</a:t>
            </a:r>
          </a:p>
          <a:p>
            <a:pPr fontAlgn="base"/>
            <a:r>
              <a:rPr lang="en-PH" b="1" i="1" dirty="0"/>
              <a:t>Example:</a:t>
            </a:r>
            <a:r>
              <a:rPr lang="en-PH" i="1" dirty="0"/>
              <a:t> Flattening 16 × 16 × 12 results in a vector of size 3072 (16 × 16 × 12).</a:t>
            </a:r>
            <a:endParaRPr lang="en-PH" dirty="0"/>
          </a:p>
          <a:p>
            <a:endParaRPr lang="en-PH" dirty="0"/>
          </a:p>
        </p:txBody>
      </p:sp>
    </p:spTree>
    <p:extLst>
      <p:ext uri="{BB962C8B-B14F-4D97-AF65-F5344CB8AC3E}">
        <p14:creationId xmlns:p14="http://schemas.microsoft.com/office/powerpoint/2010/main" val="27051880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F9CCE-2B69-4395-847B-BD6FB0AC1580}"/>
              </a:ext>
            </a:extLst>
          </p:cNvPr>
          <p:cNvSpPr>
            <a:spLocks noGrp="1"/>
          </p:cNvSpPr>
          <p:nvPr>
            <p:ph type="title"/>
          </p:nvPr>
        </p:nvSpPr>
        <p:spPr/>
        <p:txBody>
          <a:bodyPr/>
          <a:lstStyle/>
          <a:p>
            <a:r>
              <a:rPr lang="en-PH" dirty="0"/>
              <a:t>Fully Connected Layer</a:t>
            </a:r>
          </a:p>
        </p:txBody>
      </p:sp>
      <p:sp>
        <p:nvSpPr>
          <p:cNvPr id="3" name="Content Placeholder 2">
            <a:extLst>
              <a:ext uri="{FF2B5EF4-FFF2-40B4-BE49-F238E27FC236}">
                <a16:creationId xmlns:a16="http://schemas.microsoft.com/office/drawing/2014/main" id="{38CB462A-5F24-402E-A0DF-3FE751712678}"/>
              </a:ext>
            </a:extLst>
          </p:cNvPr>
          <p:cNvSpPr>
            <a:spLocks noGrp="1"/>
          </p:cNvSpPr>
          <p:nvPr>
            <p:ph idx="1"/>
          </p:nvPr>
        </p:nvSpPr>
        <p:spPr/>
        <p:txBody>
          <a:bodyPr/>
          <a:lstStyle/>
          <a:p>
            <a:pPr fontAlgn="base"/>
            <a:r>
              <a:rPr lang="en-PH" dirty="0"/>
              <a:t>The fully connected (dense) layer performs high-level reasoning using extracted features and produces the final classification scores.</a:t>
            </a:r>
          </a:p>
          <a:p>
            <a:pPr fontAlgn="base"/>
            <a:r>
              <a:rPr lang="en-PH" b="1" i="1" dirty="0"/>
              <a:t>Example: </a:t>
            </a:r>
            <a:r>
              <a:rPr lang="en-PH" i="1" dirty="0"/>
              <a:t>The 3072-length vector is connected to neurons for classification</a:t>
            </a:r>
            <a:endParaRPr lang="en-PH" dirty="0"/>
          </a:p>
          <a:p>
            <a:pPr marL="0" indent="0">
              <a:buNone/>
            </a:pPr>
            <a:r>
              <a:rPr lang="en-PH" b="1" dirty="0"/>
              <a:t> </a:t>
            </a:r>
            <a:endParaRPr lang="en-PH" dirty="0"/>
          </a:p>
          <a:p>
            <a:endParaRPr lang="en-PH" dirty="0"/>
          </a:p>
        </p:txBody>
      </p:sp>
    </p:spTree>
    <p:extLst>
      <p:ext uri="{BB962C8B-B14F-4D97-AF65-F5344CB8AC3E}">
        <p14:creationId xmlns:p14="http://schemas.microsoft.com/office/powerpoint/2010/main" val="41235562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DDBCD-DC2F-48AE-8D8C-E87B59D8EB2C}"/>
              </a:ext>
            </a:extLst>
          </p:cNvPr>
          <p:cNvSpPr>
            <a:spLocks noGrp="1"/>
          </p:cNvSpPr>
          <p:nvPr>
            <p:ph type="title"/>
          </p:nvPr>
        </p:nvSpPr>
        <p:spPr/>
        <p:txBody>
          <a:bodyPr/>
          <a:lstStyle/>
          <a:p>
            <a:r>
              <a:rPr lang="en-PH" dirty="0"/>
              <a:t>Output Layer</a:t>
            </a:r>
          </a:p>
        </p:txBody>
      </p:sp>
      <p:sp>
        <p:nvSpPr>
          <p:cNvPr id="3" name="Content Placeholder 2">
            <a:extLst>
              <a:ext uri="{FF2B5EF4-FFF2-40B4-BE49-F238E27FC236}">
                <a16:creationId xmlns:a16="http://schemas.microsoft.com/office/drawing/2014/main" id="{1ACBFC84-191F-4FB3-BC15-692829C75F9C}"/>
              </a:ext>
            </a:extLst>
          </p:cNvPr>
          <p:cNvSpPr>
            <a:spLocks noGrp="1"/>
          </p:cNvSpPr>
          <p:nvPr>
            <p:ph idx="1"/>
          </p:nvPr>
        </p:nvSpPr>
        <p:spPr/>
        <p:txBody>
          <a:bodyPr/>
          <a:lstStyle/>
          <a:p>
            <a:pPr fontAlgn="base"/>
            <a:r>
              <a:rPr lang="en-PH" dirty="0"/>
              <a:t>The output layer converts final scores into probabilities using activation functions like </a:t>
            </a:r>
            <a:r>
              <a:rPr lang="en-PH" u="sng" dirty="0">
                <a:hlinkClick r:id="rId2"/>
              </a:rPr>
              <a:t>Sigmoid</a:t>
            </a:r>
            <a:r>
              <a:rPr lang="en-PH" dirty="0"/>
              <a:t> (binary classification) or </a:t>
            </a:r>
            <a:r>
              <a:rPr lang="en-PH" u="sng" dirty="0" err="1">
                <a:hlinkClick r:id="rId3"/>
              </a:rPr>
              <a:t>Softmax</a:t>
            </a:r>
            <a:r>
              <a:rPr lang="en-PH" u="sng" dirty="0">
                <a:hlinkClick r:id="rId3"/>
              </a:rPr>
              <a:t> </a:t>
            </a:r>
            <a:r>
              <a:rPr lang="en-PH" dirty="0"/>
              <a:t>(multi-class classification).</a:t>
            </a:r>
          </a:p>
          <a:p>
            <a:pPr fontAlgn="base"/>
            <a:r>
              <a:rPr lang="en-PH" b="1" i="1" dirty="0"/>
              <a:t>Example:</a:t>
            </a:r>
            <a:r>
              <a:rPr lang="en-PH" i="1" dirty="0"/>
              <a:t> For 10 classes, </a:t>
            </a:r>
            <a:r>
              <a:rPr lang="en-PH" i="1" dirty="0" err="1"/>
              <a:t>Softmax</a:t>
            </a:r>
            <a:r>
              <a:rPr lang="en-PH" i="1" dirty="0"/>
              <a:t> produces 10 probability values each representing the likelihood of a class.</a:t>
            </a:r>
            <a:endParaRPr lang="en-PH" dirty="0"/>
          </a:p>
          <a:p>
            <a:endParaRPr lang="en-PH" dirty="0"/>
          </a:p>
        </p:txBody>
      </p:sp>
    </p:spTree>
    <p:extLst>
      <p:ext uri="{BB962C8B-B14F-4D97-AF65-F5344CB8AC3E}">
        <p14:creationId xmlns:p14="http://schemas.microsoft.com/office/powerpoint/2010/main" val="18586885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A10EA65-6019-42A3-AEE7-0B086FCD7DAC}"/>
              </a:ext>
            </a:extLst>
          </p:cNvPr>
          <p:cNvPicPr/>
          <p:nvPr/>
        </p:nvPicPr>
        <p:blipFill>
          <a:blip r:embed="rId2"/>
          <a:stretch>
            <a:fillRect/>
          </a:stretch>
        </p:blipFill>
        <p:spPr>
          <a:xfrm>
            <a:off x="93132" y="112183"/>
            <a:ext cx="11844867" cy="6610350"/>
          </a:xfrm>
          <a:prstGeom prst="rect">
            <a:avLst/>
          </a:prstGeom>
        </p:spPr>
      </p:pic>
    </p:spTree>
    <p:extLst>
      <p:ext uri="{BB962C8B-B14F-4D97-AF65-F5344CB8AC3E}">
        <p14:creationId xmlns:p14="http://schemas.microsoft.com/office/powerpoint/2010/main" val="31899183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06636-3FE4-4565-9DF1-78108C4361E6}"/>
              </a:ext>
            </a:extLst>
          </p:cNvPr>
          <p:cNvSpPr>
            <a:spLocks noGrp="1"/>
          </p:cNvSpPr>
          <p:nvPr>
            <p:ph type="title"/>
          </p:nvPr>
        </p:nvSpPr>
        <p:spPr/>
        <p:txBody>
          <a:bodyPr/>
          <a:lstStyle/>
          <a:p>
            <a:r>
              <a:rPr lang="en-US" sz="3200" b="1" dirty="0"/>
              <a:t>Image Segmentation with Watershed Algorithm-</a:t>
            </a:r>
            <a:r>
              <a:rPr lang="en-PH" sz="3200" b="1" dirty="0"/>
              <a:t>OpenCV Python</a:t>
            </a:r>
            <a:endParaRPr lang="en-US" b="1" dirty="0"/>
          </a:p>
        </p:txBody>
      </p:sp>
      <p:sp>
        <p:nvSpPr>
          <p:cNvPr id="3" name="Content Placeholder 2">
            <a:extLst>
              <a:ext uri="{FF2B5EF4-FFF2-40B4-BE49-F238E27FC236}">
                <a16:creationId xmlns:a16="http://schemas.microsoft.com/office/drawing/2014/main" id="{ACF806BA-DD68-46D3-AAFB-293F7A260968}"/>
              </a:ext>
            </a:extLst>
          </p:cNvPr>
          <p:cNvSpPr>
            <a:spLocks noGrp="1"/>
          </p:cNvSpPr>
          <p:nvPr>
            <p:ph idx="1"/>
          </p:nvPr>
        </p:nvSpPr>
        <p:spPr/>
        <p:txBody>
          <a:bodyPr/>
          <a:lstStyle/>
          <a:p>
            <a:r>
              <a:rPr lang="en-PH" dirty="0"/>
              <a:t>Image segmentation is a fundamental </a:t>
            </a:r>
            <a:r>
              <a:rPr lang="en-PH" u="sng" dirty="0">
                <a:hlinkClick r:id="rId2"/>
              </a:rPr>
              <a:t>computer vision</a:t>
            </a:r>
            <a:r>
              <a:rPr lang="en-PH" dirty="0"/>
              <a:t> task that involves partitioning an image into meaningful and semantically homogeneous regions. The goal is to simplify the representation of an image or make it more meaningful for further analysis. These segments typically correspond to objects or regions of interest within the image.</a:t>
            </a:r>
          </a:p>
          <a:p>
            <a:endParaRPr lang="en-PH" dirty="0"/>
          </a:p>
        </p:txBody>
      </p:sp>
    </p:spTree>
    <p:extLst>
      <p:ext uri="{BB962C8B-B14F-4D97-AF65-F5344CB8AC3E}">
        <p14:creationId xmlns:p14="http://schemas.microsoft.com/office/powerpoint/2010/main" val="9627674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D993D-2EA7-4957-A9D7-B1310E093213}"/>
              </a:ext>
            </a:extLst>
          </p:cNvPr>
          <p:cNvSpPr>
            <a:spLocks noGrp="1"/>
          </p:cNvSpPr>
          <p:nvPr>
            <p:ph type="title"/>
          </p:nvPr>
        </p:nvSpPr>
        <p:spPr/>
        <p:txBody>
          <a:bodyPr/>
          <a:lstStyle/>
          <a:p>
            <a:r>
              <a:rPr lang="en-PH" b="1" dirty="0"/>
              <a:t>Watershed Algorithm</a:t>
            </a:r>
            <a:br>
              <a:rPr lang="en-PH" b="1" dirty="0"/>
            </a:br>
            <a:endParaRPr lang="en-PH" dirty="0"/>
          </a:p>
        </p:txBody>
      </p:sp>
      <p:sp>
        <p:nvSpPr>
          <p:cNvPr id="3" name="Content Placeholder 2">
            <a:extLst>
              <a:ext uri="{FF2B5EF4-FFF2-40B4-BE49-F238E27FC236}">
                <a16:creationId xmlns:a16="http://schemas.microsoft.com/office/drawing/2014/main" id="{1D7CBED5-D9EC-41C4-BA81-319BFA561292}"/>
              </a:ext>
            </a:extLst>
          </p:cNvPr>
          <p:cNvSpPr>
            <a:spLocks noGrp="1"/>
          </p:cNvSpPr>
          <p:nvPr>
            <p:ph idx="1"/>
          </p:nvPr>
        </p:nvSpPr>
        <p:spPr/>
        <p:txBody>
          <a:bodyPr/>
          <a:lstStyle/>
          <a:p>
            <a:pPr fontAlgn="base"/>
            <a:r>
              <a:rPr lang="en-PH" dirty="0"/>
              <a:t>The Watershed Algorithm is a classical image segmentation technique that is based on the concept of watershed </a:t>
            </a:r>
            <a:r>
              <a:rPr lang="en-PH" dirty="0" err="1"/>
              <a:t>transformation.The</a:t>
            </a:r>
            <a:r>
              <a:rPr lang="en-PH" dirty="0"/>
              <a:t> segmentation process will take the similarity with adjacent pixels of the image as an important reference to connect pixels with similar spatial positions and gray values.</a:t>
            </a:r>
          </a:p>
          <a:p>
            <a:pPr fontAlgn="base"/>
            <a:r>
              <a:rPr lang="en-PH" b="1" dirty="0"/>
              <a:t>When do I use the watershed algorithm?</a:t>
            </a:r>
          </a:p>
          <a:p>
            <a:pPr fontAlgn="base"/>
            <a:r>
              <a:rPr lang="en-PH" dirty="0"/>
              <a:t>The Watershed Algorithm is used when segmenting images with touching or overlapping objects. It excels in scenarios with irregular object shapes, gradient-based segmentation requirements, and when marker-guided segmentation is feasible.</a:t>
            </a:r>
          </a:p>
          <a:p>
            <a:endParaRPr lang="en-PH" dirty="0"/>
          </a:p>
        </p:txBody>
      </p:sp>
    </p:spTree>
    <p:extLst>
      <p:ext uri="{BB962C8B-B14F-4D97-AF65-F5344CB8AC3E}">
        <p14:creationId xmlns:p14="http://schemas.microsoft.com/office/powerpoint/2010/main" val="5493158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67D49-D715-4769-9EAE-D018F258A9FF}"/>
              </a:ext>
            </a:extLst>
          </p:cNvPr>
          <p:cNvSpPr>
            <a:spLocks noGrp="1"/>
          </p:cNvSpPr>
          <p:nvPr>
            <p:ph type="title"/>
          </p:nvPr>
        </p:nvSpPr>
        <p:spPr/>
        <p:txBody>
          <a:bodyPr/>
          <a:lstStyle/>
          <a:p>
            <a:r>
              <a:rPr lang="en-PH" b="1" dirty="0"/>
              <a:t>Working of Watershed Algorithm</a:t>
            </a:r>
            <a:br>
              <a:rPr lang="en-PH" b="1" dirty="0"/>
            </a:br>
            <a:endParaRPr lang="en-PH" dirty="0"/>
          </a:p>
        </p:txBody>
      </p:sp>
      <p:sp>
        <p:nvSpPr>
          <p:cNvPr id="3" name="Content Placeholder 2">
            <a:extLst>
              <a:ext uri="{FF2B5EF4-FFF2-40B4-BE49-F238E27FC236}">
                <a16:creationId xmlns:a16="http://schemas.microsoft.com/office/drawing/2014/main" id="{90220A6F-0E0D-478C-8863-9906CD1AC6A7}"/>
              </a:ext>
            </a:extLst>
          </p:cNvPr>
          <p:cNvSpPr>
            <a:spLocks noGrp="1"/>
          </p:cNvSpPr>
          <p:nvPr>
            <p:ph idx="1"/>
          </p:nvPr>
        </p:nvSpPr>
        <p:spPr/>
        <p:txBody>
          <a:bodyPr/>
          <a:lstStyle/>
          <a:p>
            <a:pPr fontAlgn="base"/>
            <a:r>
              <a:rPr lang="en-PH" dirty="0"/>
              <a:t>The watershed algorithm divides an image into segments using topographic information. It treats the image as a topographic surface, identifying catchment basins based on pixel intensity. Local minima are marked as starting points, and flooding with colors fills catchment basins until object boundaries are reached. The resulting segmentation assigns unique colors to regions, aiding object recognition and image analysis.</a:t>
            </a:r>
          </a:p>
          <a:p>
            <a:pPr fontAlgn="base"/>
            <a:r>
              <a:rPr lang="en-PH" dirty="0"/>
              <a:t>The whole process of the watershed algorithm can be summarized in the following steps:</a:t>
            </a:r>
          </a:p>
          <a:p>
            <a:endParaRPr lang="en-PH" dirty="0"/>
          </a:p>
        </p:txBody>
      </p:sp>
    </p:spTree>
    <p:extLst>
      <p:ext uri="{BB962C8B-B14F-4D97-AF65-F5344CB8AC3E}">
        <p14:creationId xmlns:p14="http://schemas.microsoft.com/office/powerpoint/2010/main" val="36380116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A6569-014B-4ED1-8D4D-D5EEBD7A66F7}"/>
              </a:ext>
            </a:extLst>
          </p:cNvPr>
          <p:cNvSpPr>
            <a:spLocks noGrp="1"/>
          </p:cNvSpPr>
          <p:nvPr>
            <p:ph type="title"/>
          </p:nvPr>
        </p:nvSpPr>
        <p:spPr/>
        <p:txBody>
          <a:bodyPr/>
          <a:lstStyle/>
          <a:p>
            <a:endParaRPr lang="en-PH"/>
          </a:p>
        </p:txBody>
      </p:sp>
      <p:sp>
        <p:nvSpPr>
          <p:cNvPr id="3" name="Content Placeholder 2">
            <a:extLst>
              <a:ext uri="{FF2B5EF4-FFF2-40B4-BE49-F238E27FC236}">
                <a16:creationId xmlns:a16="http://schemas.microsoft.com/office/drawing/2014/main" id="{FE758351-FE0D-402B-A7A8-863AFC7E9186}"/>
              </a:ext>
            </a:extLst>
          </p:cNvPr>
          <p:cNvSpPr>
            <a:spLocks noGrp="1"/>
          </p:cNvSpPr>
          <p:nvPr>
            <p:ph idx="1"/>
          </p:nvPr>
        </p:nvSpPr>
        <p:spPr/>
        <p:txBody>
          <a:bodyPr>
            <a:normAutofit fontScale="92500" lnSpcReduction="20000"/>
          </a:bodyPr>
          <a:lstStyle/>
          <a:p>
            <a:pPr lvl="0" fontAlgn="base"/>
            <a:r>
              <a:rPr lang="en-PH" b="1" dirty="0"/>
              <a:t>Marker placement:</a:t>
            </a:r>
            <a:r>
              <a:rPr lang="en-PH" dirty="0"/>
              <a:t> The first step is to place markers on the local minima, or the lowest points, in the image. These markers serve as the starting points for the flooding process.</a:t>
            </a:r>
          </a:p>
          <a:p>
            <a:pPr lvl="0" fontAlgn="base"/>
            <a:r>
              <a:rPr lang="en-PH" b="1" dirty="0"/>
              <a:t>Flooding</a:t>
            </a:r>
            <a:r>
              <a:rPr lang="en-PH" dirty="0"/>
              <a:t>: The algorithm then floods the image with different colors, starting from the markers. As the color spreads, it fills up the catchment basins until it reaches the boundaries of the objects or regions in the image.</a:t>
            </a:r>
          </a:p>
          <a:p>
            <a:pPr lvl="0" fontAlgn="base"/>
            <a:r>
              <a:rPr lang="en-PH" b="1" dirty="0"/>
              <a:t>Catchment basin formation</a:t>
            </a:r>
            <a:r>
              <a:rPr lang="en-PH" dirty="0"/>
              <a:t>: As the color spreads, the catchment basins are gradually filled, creating a segmentation of the image. The resulting segments or regions are assigned unique colors, which can then be used to identify different objects or features in the image.</a:t>
            </a:r>
          </a:p>
          <a:p>
            <a:pPr lvl="0" fontAlgn="base"/>
            <a:r>
              <a:rPr lang="en-PH" b="1" dirty="0"/>
              <a:t>Boundary identification</a:t>
            </a:r>
            <a:r>
              <a:rPr lang="en-PH" dirty="0"/>
              <a:t>: The watershed algorithm uses the boundaries between the different colored regions to identify the objects or regions in the image. The resulting segmentation can be used for object recognition, image analysis, and feature extraction tasks.</a:t>
            </a:r>
          </a:p>
          <a:p>
            <a:endParaRPr lang="en-PH" dirty="0"/>
          </a:p>
        </p:txBody>
      </p:sp>
    </p:spTree>
    <p:extLst>
      <p:ext uri="{BB962C8B-B14F-4D97-AF65-F5344CB8AC3E}">
        <p14:creationId xmlns:p14="http://schemas.microsoft.com/office/powerpoint/2010/main" val="1006239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F377B-E2F3-4374-A05F-677BD36A80A9}"/>
              </a:ext>
            </a:extLst>
          </p:cNvPr>
          <p:cNvSpPr>
            <a:spLocks noGrp="1"/>
          </p:cNvSpPr>
          <p:nvPr>
            <p:ph type="title"/>
          </p:nvPr>
        </p:nvSpPr>
        <p:spPr/>
        <p:txBody>
          <a:bodyPr/>
          <a:lstStyle/>
          <a:p>
            <a:r>
              <a:rPr lang="en-PH" b="1" dirty="0"/>
              <a:t>Implementing the watershed algorithm using OpenCV</a:t>
            </a:r>
            <a:br>
              <a:rPr lang="en-PH" b="1" dirty="0"/>
            </a:br>
            <a:endParaRPr lang="en-PH" dirty="0"/>
          </a:p>
        </p:txBody>
      </p:sp>
      <p:sp>
        <p:nvSpPr>
          <p:cNvPr id="3" name="Content Placeholder 2">
            <a:extLst>
              <a:ext uri="{FF2B5EF4-FFF2-40B4-BE49-F238E27FC236}">
                <a16:creationId xmlns:a16="http://schemas.microsoft.com/office/drawing/2014/main" id="{79D01E29-AF13-44CA-BD33-153A4DD85344}"/>
              </a:ext>
            </a:extLst>
          </p:cNvPr>
          <p:cNvSpPr>
            <a:spLocks noGrp="1"/>
          </p:cNvSpPr>
          <p:nvPr>
            <p:ph idx="1"/>
          </p:nvPr>
        </p:nvSpPr>
        <p:spPr/>
        <p:txBody>
          <a:bodyPr/>
          <a:lstStyle/>
          <a:p>
            <a:pPr fontAlgn="base"/>
            <a:r>
              <a:rPr lang="en-PH" u="sng" dirty="0">
                <a:hlinkClick r:id="rId2"/>
              </a:rPr>
              <a:t>OpenCV</a:t>
            </a:r>
            <a:r>
              <a:rPr lang="en-PH" dirty="0"/>
              <a:t> (Open Source Computer Vision Library) is an open-source computer vision and machine learning software library. OpenCV contains hundreds of computer vision algorithms, including object detection, face recognition, image processing, and machine learning.</a:t>
            </a:r>
          </a:p>
          <a:p>
            <a:pPr fontAlgn="base"/>
            <a:r>
              <a:rPr lang="en-PH" dirty="0"/>
              <a:t>Here are the implementation steps for the watershed Algorithm using OpenCV:</a:t>
            </a:r>
          </a:p>
          <a:p>
            <a:endParaRPr lang="en-PH" dirty="0"/>
          </a:p>
        </p:txBody>
      </p:sp>
    </p:spTree>
    <p:extLst>
      <p:ext uri="{BB962C8B-B14F-4D97-AF65-F5344CB8AC3E}">
        <p14:creationId xmlns:p14="http://schemas.microsoft.com/office/powerpoint/2010/main" val="39939210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187</TotalTime>
  <Words>3173</Words>
  <Application>Microsoft Office PowerPoint</Application>
  <PresentationFormat>Widescreen</PresentationFormat>
  <Paragraphs>123</Paragraphs>
  <Slides>40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40</vt:i4>
      </vt:variant>
    </vt:vector>
  </HeadingPairs>
  <TitlesOfParts>
    <vt:vector size="48" baseType="lpstr">
      <vt:lpstr>Arial</vt:lpstr>
      <vt:lpstr>Arial Unicode MS</vt:lpstr>
      <vt:lpstr>Calibri</vt:lpstr>
      <vt:lpstr>Century Gothic</vt:lpstr>
      <vt:lpstr>Courier New</vt:lpstr>
      <vt:lpstr>Times New Roman</vt:lpstr>
      <vt:lpstr>Wingdings 3</vt:lpstr>
      <vt:lpstr>Ion</vt:lpstr>
      <vt:lpstr>EDGE DECTION , FEATURE EXTRACTION AND SEGMENTATION</vt:lpstr>
      <vt:lpstr>EDGE DETECTION</vt:lpstr>
      <vt:lpstr>Sobel Operator </vt:lpstr>
      <vt:lpstr>PowerPoint Presentation</vt:lpstr>
      <vt:lpstr>Laplacian Operator </vt:lpstr>
      <vt:lpstr>PowerPoint Presentation</vt:lpstr>
      <vt:lpstr>Canny Edge Detector </vt:lpstr>
      <vt:lpstr>Noise Reduction </vt:lpstr>
      <vt:lpstr>Calculating the Intensity Gradient of the Image </vt:lpstr>
      <vt:lpstr>Suppression of False Edges </vt:lpstr>
      <vt:lpstr>Hysteresis Thresholding </vt:lpstr>
      <vt:lpstr>What is Feature Extraction? </vt:lpstr>
      <vt:lpstr>Importance of Feature Extraction </vt:lpstr>
      <vt:lpstr>Bag of words (BoW) model in NLP </vt:lpstr>
      <vt:lpstr>Preprocessing the Text </vt:lpstr>
      <vt:lpstr>Counting Word Frequencies</vt:lpstr>
      <vt:lpstr>Selecting the Most Frequent Words </vt:lpstr>
      <vt:lpstr>Building the Bag of Words (BoW) Model</vt:lpstr>
      <vt:lpstr>Visualizing Word Frequencies with a Word Cloud </vt:lpstr>
      <vt:lpstr>HOG Feature Visualization in Python Using skimage </vt:lpstr>
      <vt:lpstr>Understanding HOG Features</vt:lpstr>
      <vt:lpstr>Advantages of HOG Feature </vt:lpstr>
      <vt:lpstr>Visualizing HOG Features with Python and skimage </vt:lpstr>
      <vt:lpstr>Customizing HOG Feature Visualization with skimage </vt:lpstr>
      <vt:lpstr>Introduction to Convolution Neural Network </vt:lpstr>
      <vt:lpstr>PowerPoint Presentation</vt:lpstr>
      <vt:lpstr>Key Components of CNN </vt:lpstr>
      <vt:lpstr>Input Layer</vt:lpstr>
      <vt:lpstr>Convolutional Layer</vt:lpstr>
      <vt:lpstr>PowerPoint Presentation</vt:lpstr>
      <vt:lpstr>PowerPoint Presentation</vt:lpstr>
      <vt:lpstr>Flattening</vt:lpstr>
      <vt:lpstr>Fully Connected Layer</vt:lpstr>
      <vt:lpstr>Output Layer</vt:lpstr>
      <vt:lpstr>PowerPoint Presentation</vt:lpstr>
      <vt:lpstr>Image Segmentation with Watershed Algorithm-OpenCV Python</vt:lpstr>
      <vt:lpstr>Watershed Algorithm </vt:lpstr>
      <vt:lpstr>Working of Watershed Algorithm </vt:lpstr>
      <vt:lpstr>PowerPoint Presentation</vt:lpstr>
      <vt:lpstr>Implementing the watershed algorithm using OpenCV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EDGE DECTION , FEATURE EXTRACTION AND SEGMENTATION</dc:title>
  <dc:creator>Andro Aban</dc:creator>
  <cp:lastModifiedBy>Andro Aban</cp:lastModifiedBy>
  <cp:revision>9</cp:revision>
  <dcterms:created xsi:type="dcterms:W3CDTF">2026-03-13T11:59:52Z</dcterms:created>
  <dcterms:modified xsi:type="dcterms:W3CDTF">2026-03-14T01:54:03Z</dcterms:modified>
</cp:coreProperties>
</file>